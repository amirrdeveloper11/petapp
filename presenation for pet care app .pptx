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4" r:id="rId3"/>
    <p:sldId id="258" r:id="rId4"/>
    <p:sldId id="262" r:id="rId5"/>
    <p:sldId id="282" r:id="rId6"/>
    <p:sldId id="259" r:id="rId7"/>
    <p:sldId id="261" r:id="rId8"/>
    <p:sldId id="265" r:id="rId9"/>
    <p:sldId id="264" r:id="rId10"/>
    <p:sldId id="267" r:id="rId11"/>
    <p:sldId id="288" r:id="rId12"/>
    <p:sldId id="276" r:id="rId13"/>
    <p:sldId id="285" r:id="rId14"/>
    <p:sldId id="286" r:id="rId15"/>
    <p:sldId id="287" r:id="rId16"/>
    <p:sldId id="270" r:id="rId17"/>
    <p:sldId id="257" r:id="rId18"/>
    <p:sldId id="279" r:id="rId19"/>
    <p:sldId id="268" r:id="rId20"/>
    <p:sldId id="269" r:id="rId21"/>
    <p:sldId id="278" r:id="rId22"/>
    <p:sldId id="272" r:id="rId23"/>
    <p:sldId id="274" r:id="rId24"/>
    <p:sldId id="277" r:id="rId25"/>
    <p:sldId id="271" r:id="rId26"/>
    <p:sldId id="281" r:id="rId27"/>
    <p:sldId id="26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3F7C8"/>
    <a:srgbClr val="454747"/>
    <a:srgbClr val="0000FF"/>
    <a:srgbClr val="0708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74" autoAdjust="0"/>
  </p:normalViewPr>
  <p:slideViewPr>
    <p:cSldViewPr snapToGrid="0">
      <p:cViewPr>
        <p:scale>
          <a:sx n="60" d="100"/>
          <a:sy n="60" d="100"/>
        </p:scale>
        <p:origin x="235" y="629"/>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1A074BA-A5B4-4ED6-A8F4-E3316E8342A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4016635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A074BA-A5B4-4ED6-A8F4-E3316E8342A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2538781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1A074BA-A5B4-4ED6-A8F4-E3316E8342A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1075137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1A074BA-A5B4-4ED6-A8F4-E3316E8342A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1972741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1A074BA-A5B4-4ED6-A8F4-E3316E8342A3}"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2587707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1A074BA-A5B4-4ED6-A8F4-E3316E8342A3}"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3292494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A074BA-A5B4-4ED6-A8F4-E3316E8342A3}"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4053132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1A074BA-A5B4-4ED6-A8F4-E3316E8342A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1453155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1A074BA-A5B4-4ED6-A8F4-E3316E8342A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384055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A074BA-A5B4-4ED6-A8F4-E3316E8342A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2332083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A074BA-A5B4-4ED6-A8F4-E3316E8342A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7694B-C4F5-440B-9941-9B6380F899EB}" type="slidenum">
              <a:rPr lang="en-US" smtClean="0"/>
              <a:t>‹#›</a:t>
            </a:fld>
            <a:endParaRPr lang="en-US"/>
          </a:p>
        </p:txBody>
      </p:sp>
    </p:spTree>
    <p:extLst>
      <p:ext uri="{BB962C8B-B14F-4D97-AF65-F5344CB8AC3E}">
        <p14:creationId xmlns:p14="http://schemas.microsoft.com/office/powerpoint/2010/main" val="3714361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A074BA-A5B4-4ED6-A8F4-E3316E8342A3}" type="datetimeFigureOut">
              <a:rPr lang="en-US" smtClean="0"/>
              <a:t>4/27/2026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7694B-C4F5-440B-9941-9B6380F899EB}" type="slidenum">
              <a:rPr lang="en-US" smtClean="0"/>
              <a:t>‹#›</a:t>
            </a:fld>
            <a:endParaRPr lang="en-US"/>
          </a:p>
        </p:txBody>
      </p:sp>
    </p:spTree>
    <p:extLst>
      <p:ext uri="{BB962C8B-B14F-4D97-AF65-F5344CB8AC3E}">
        <p14:creationId xmlns:p14="http://schemas.microsoft.com/office/powerpoint/2010/main" val="4004035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11853"/>
            <a:ext cx="8947638" cy="881062"/>
          </a:xfrm>
        </p:spPr>
        <p:txBody>
          <a:bodyPr>
            <a:normAutofit/>
          </a:bodyPr>
          <a:lstStyle/>
          <a:p>
            <a:pPr rtl="1"/>
            <a:r>
              <a:rPr lang="ar-SY" sz="4400" b="1" dirty="0" smtClean="0"/>
              <a:t> تطبيق الرعاية بالحيوانات الأليفة</a:t>
            </a:r>
            <a:endParaRPr lang="en-US" sz="4400" b="1" dirty="0"/>
          </a:p>
        </p:txBody>
      </p:sp>
      <p:sp>
        <p:nvSpPr>
          <p:cNvPr id="3" name="Subtitle 2"/>
          <p:cNvSpPr>
            <a:spLocks noGrp="1"/>
          </p:cNvSpPr>
          <p:nvPr>
            <p:ph type="subTitle" idx="1"/>
          </p:nvPr>
        </p:nvSpPr>
        <p:spPr>
          <a:xfrm>
            <a:off x="1216269" y="3602037"/>
            <a:ext cx="9563100" cy="2719631"/>
          </a:xfrm>
        </p:spPr>
        <p:txBody>
          <a:bodyPr>
            <a:normAutofit/>
          </a:bodyPr>
          <a:lstStyle/>
          <a:p>
            <a:r>
              <a:rPr lang="ar-SY" sz="2000" b="1" dirty="0" smtClean="0"/>
              <a:t>اعداد الطلاب:</a:t>
            </a:r>
          </a:p>
          <a:p>
            <a:r>
              <a:rPr lang="ar-SY" sz="2000" dirty="0" smtClean="0"/>
              <a:t>محمد امير الحموي</a:t>
            </a:r>
            <a:endParaRPr lang="en-US" sz="2000" dirty="0" smtClean="0"/>
          </a:p>
          <a:p>
            <a:r>
              <a:rPr lang="ar-SY" sz="2000" dirty="0" smtClean="0"/>
              <a:t>مجد باسل مقصوصة</a:t>
            </a:r>
          </a:p>
          <a:p>
            <a:endParaRPr lang="ar-SY" sz="2000" dirty="0" smtClean="0"/>
          </a:p>
          <a:p>
            <a:r>
              <a:rPr lang="ar-SY" sz="2000" b="1" dirty="0"/>
              <a:t>إ</a:t>
            </a:r>
            <a:r>
              <a:rPr lang="ar-SY" sz="2000" b="1" dirty="0" smtClean="0"/>
              <a:t>شراف:</a:t>
            </a:r>
          </a:p>
          <a:p>
            <a:r>
              <a:rPr lang="ar-SY" sz="2000" dirty="0" smtClean="0"/>
              <a:t>م. رانيا رجب</a:t>
            </a:r>
            <a:endParaRPr lang="en-US" sz="2000" dirty="0"/>
          </a:p>
        </p:txBody>
      </p:sp>
      <p:pic>
        <p:nvPicPr>
          <p:cNvPr id="4" name="Picture 7">
            <a:extLst>
              <a:ext uri="{FF2B5EF4-FFF2-40B4-BE49-F238E27FC236}">
                <a16:creationId xmlns:a16="http://schemas.microsoft.com/office/drawing/2014/main" id="{EC4BE42B-7A9E-9EF6-8A1D-5DFF837B88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42838" y="149998"/>
            <a:ext cx="3053863" cy="2061855"/>
          </a:xfrm>
          <a:prstGeom prst="rect">
            <a:avLst/>
          </a:prstGeom>
        </p:spPr>
      </p:pic>
      <p:sp>
        <p:nvSpPr>
          <p:cNvPr id="5" name="Rectangle 4"/>
          <p:cNvSpPr/>
          <p:nvPr/>
        </p:nvSpPr>
        <p:spPr>
          <a:xfrm>
            <a:off x="-495300" y="779401"/>
            <a:ext cx="6096000" cy="923330"/>
          </a:xfrm>
          <a:prstGeom prst="rect">
            <a:avLst/>
          </a:prstGeom>
        </p:spPr>
        <p:txBody>
          <a:bodyPr wrap="square">
            <a:spAutoFit/>
          </a:bodyPr>
          <a:lstStyle/>
          <a:p>
            <a:pPr algn="ctr"/>
            <a:r>
              <a:rPr lang="en-US" b="1" dirty="0" smtClean="0">
                <a:latin typeface="Times New Roman" panose="02020603050405020304" pitchFamily="18" charset="0"/>
                <a:cs typeface="Times New Roman" panose="02020603050405020304" pitchFamily="18" charset="0"/>
              </a:rPr>
              <a:t>SYRIAN PRIVATE UNIVERSITY</a:t>
            </a:r>
          </a:p>
          <a:p>
            <a:pPr algn="ctr"/>
            <a:r>
              <a:rPr lang="en-US" b="1" dirty="0" smtClean="0">
                <a:latin typeface="Times New Roman" panose="02020603050405020304" pitchFamily="18" charset="0"/>
                <a:cs typeface="Times New Roman" panose="02020603050405020304" pitchFamily="18" charset="0"/>
              </a:rPr>
              <a:t>FACULTY OF COMPUTER &amp; INFORMATICS ENGINEERING</a:t>
            </a:r>
            <a:endParaRPr lang="en-US"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435844" y="6137002"/>
            <a:ext cx="1301262" cy="369332"/>
          </a:xfrm>
          <a:prstGeom prst="rect">
            <a:avLst/>
          </a:prstGeom>
          <a:noFill/>
        </p:spPr>
        <p:txBody>
          <a:bodyPr wrap="square" rtlCol="0">
            <a:spAutoFit/>
          </a:bodyPr>
          <a:lstStyle/>
          <a:p>
            <a:r>
              <a:rPr lang="en-US" dirty="0" smtClean="0"/>
              <a:t>2025-2026</a:t>
            </a:r>
            <a:endParaRPr lang="en-US" dirty="0"/>
          </a:p>
        </p:txBody>
      </p:sp>
    </p:spTree>
    <p:extLst>
      <p:ext uri="{BB962C8B-B14F-4D97-AF65-F5344CB8AC3E}">
        <p14:creationId xmlns:p14="http://schemas.microsoft.com/office/powerpoint/2010/main" val="39643301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7552" y="474783"/>
            <a:ext cx="334107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rtl="1"/>
            <a:r>
              <a:rPr lang="ar-SY" sz="3600" b="1" dirty="0" smtClean="0"/>
              <a:t>اهمية المشروع</a:t>
            </a:r>
            <a:endParaRPr lang="en-US" sz="3600" b="1" dirty="0"/>
          </a:p>
        </p:txBody>
      </p:sp>
      <p:sp>
        <p:nvSpPr>
          <p:cNvPr id="7" name="Rectangle 4"/>
          <p:cNvSpPr>
            <a:spLocks noChangeArrowheads="1"/>
          </p:cNvSpPr>
          <p:nvPr/>
        </p:nvSpPr>
        <p:spPr bwMode="auto">
          <a:xfrm>
            <a:off x="0" y="2274418"/>
            <a:ext cx="12192000" cy="2677656"/>
          </a:xfrm>
          <a:prstGeom prst="rect">
            <a:avLst/>
          </a:prstGeom>
          <a:ln>
            <a:noFill/>
          </a:ln>
          <a:effectLst/>
          <a:extLst/>
        </p:spPr>
        <p:style>
          <a:lnRef idx="0">
            <a:scrgbClr r="0" g="0" b="0"/>
          </a:lnRef>
          <a:fillRef idx="1003">
            <a:schemeClr val="lt2"/>
          </a:fillRef>
          <a:effectRef idx="0">
            <a:scrgbClr r="0" g="0" b="0"/>
          </a:effectRef>
          <a:fontRef idx="major"/>
        </p:style>
        <p:txBody>
          <a:bodyPr vert="horz" wrap="square" lIns="91440" tIns="45720" rIns="91440" bIns="45720" numCol="1" anchor="ctr" anchorCtr="0" compatLnSpc="1">
            <a:prstTxWarp prst="textNoShape">
              <a:avLst/>
            </a:prstTxWarp>
            <a:spAutoFit/>
          </a:bodyPr>
          <a:lstStyle/>
          <a:p>
            <a:pPr algn="r" rtl="1" eaLnBrk="0" fontAlgn="base" hangingPunct="0">
              <a:spcBef>
                <a:spcPct val="0"/>
              </a:spcBef>
              <a:spcAft>
                <a:spcPct val="0"/>
              </a:spcAft>
            </a:pPr>
            <a:r>
              <a:rPr lang="ar-SY" sz="2400" b="1" u="sng" dirty="0"/>
              <a:t>تكمن أهمية هذا المشروع في:</a:t>
            </a:r>
            <a:endParaRPr lang="en-US" sz="2400" b="1" u="sng" dirty="0"/>
          </a:p>
          <a:p>
            <a:pPr marL="0" marR="0" lvl="0" indent="0" algn="r" defTabSz="914400" rtl="1" eaLnBrk="0" fontAlgn="base" latinLnBrk="0" hangingPunct="0">
              <a:lnSpc>
                <a:spcPct val="100000"/>
              </a:lnSpc>
              <a:spcBef>
                <a:spcPct val="0"/>
              </a:spcBef>
              <a:spcAft>
                <a:spcPct val="0"/>
              </a:spcAft>
              <a:buClrTx/>
              <a:buSzTx/>
              <a:tabLst/>
            </a:pPr>
            <a:endParaRPr kumimoji="0" lang="ar-SY"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تكامل الخدمات</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توحيد كافة احتياجات مربي</a:t>
            </a:r>
            <a:r>
              <a:rPr kumimoji="0" lang="ar-SY"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ن</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الحيوانات في </a:t>
            </a:r>
            <a:r>
              <a:rPr kumimoji="0" lang="ar-SY"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تطبيق</a:t>
            </a:r>
            <a:r>
              <a:rPr kumimoji="0" lang="ar-SY" altLang="en-US" sz="2400" b="0" i="0" u="none" strike="noStrike" cap="none" normalizeH="0" dirty="0" smtClean="0">
                <a:ln>
                  <a:noFill/>
                </a:ln>
                <a:solidFill>
                  <a:schemeClr val="tx1"/>
                </a:solidFill>
                <a:effectLst/>
                <a:latin typeface="Arial" panose="020B0604020202020204" pitchFamily="34" charset="0"/>
                <a:cs typeface="Arial" panose="020B0604020202020204" pitchFamily="34" charset="0"/>
              </a:rPr>
              <a:t> الكتروني</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واحد بدلاً من تشتت ال</a:t>
            </a:r>
            <a:r>
              <a:rPr kumimoji="0" lang="ar-SY"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خدمات</a:t>
            </a:r>
            <a:endParaRPr kumimoji="0" lang="ar-SY"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الرعاية ا</a:t>
            </a:r>
            <a:r>
              <a:rPr kumimoji="0" lang="ar-SY"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لمستمرة</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ضمان دقة متابعة التحصينات والمواعيد الطبية لمنع المخاطر الصحية</a:t>
            </a:r>
            <a:r>
              <a:rPr kumimoji="0" lang="en-US" altLang="en-US" sz="2400" b="0" i="0" u="none" strike="noStrike" cap="none" normalizeH="0" baseline="0" dirty="0" smtClean="0">
                <a:ln>
                  <a:noFill/>
                </a:ln>
                <a:solidFill>
                  <a:schemeClr val="tx1"/>
                </a:solidFill>
                <a:effectLst/>
                <a:latin typeface="Arial" panose="020B0604020202020204" pitchFamily="34" charset="0"/>
              </a:rPr>
              <a:t>.</a:t>
            </a:r>
            <a:endParaRPr kumimoji="0" lang="ar-SY"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رقمنة تجربة المستخدم</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تحويل العمليات التقليدية (الشراء والحجز) إلى تجربة إلكترونية سريعة ومنظمة</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7018580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49967" y="501161"/>
            <a:ext cx="334107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rtl="1"/>
            <a:r>
              <a:rPr lang="ar-SY" sz="3600" b="1" dirty="0" smtClean="0"/>
              <a:t>اهداف المشروع</a:t>
            </a:r>
            <a:endParaRPr lang="en-US" sz="3600" b="1" dirty="0"/>
          </a:p>
        </p:txBody>
      </p:sp>
      <p:sp>
        <p:nvSpPr>
          <p:cNvPr id="4" name="Rectangle 1"/>
          <p:cNvSpPr>
            <a:spLocks noChangeArrowheads="1"/>
          </p:cNvSpPr>
          <p:nvPr/>
        </p:nvSpPr>
        <p:spPr bwMode="auto">
          <a:xfrm>
            <a:off x="0" y="2454870"/>
            <a:ext cx="12192000" cy="2308324"/>
          </a:xfrm>
          <a:prstGeom prst="rect">
            <a:avLst/>
          </a:prstGeom>
          <a:ln>
            <a:noFill/>
          </a:ln>
          <a:effectLst/>
          <a:extLst/>
        </p:spPr>
        <p:style>
          <a:lnRef idx="0">
            <a:scrgbClr r="0" g="0" b="0"/>
          </a:lnRef>
          <a:fillRef idx="1003">
            <a:schemeClr val="lt2"/>
          </a:fillRef>
          <a:effectRef idx="0">
            <a:scrgbClr r="0" g="0" b="0"/>
          </a:effectRef>
          <a:fontRef idx="major"/>
        </p:style>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tabLst/>
            </a:pPr>
            <a:r>
              <a:rPr kumimoji="0" lang="ar-SY"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1.</a:t>
            </a: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تأمين مستلزمات ا</a:t>
            </a:r>
            <a:r>
              <a:rPr lang="ar-SY" altLang="en-US" sz="2400" b="1" dirty="0" smtClean="0">
                <a:latin typeface="Arial" panose="020B0604020202020204" pitchFamily="34" charset="0"/>
                <a:cs typeface="Arial" panose="020B0604020202020204" pitchFamily="34" charset="0"/>
              </a:rPr>
              <a:t>لحيوان الأليف: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توفير متجر إلكتروني متكامل يضم المواد الغذائية والرعاية والإكسسوارات</a:t>
            </a:r>
            <a:endParaRPr kumimoji="0" lang="ar-SY"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في مكان واحد</a:t>
            </a:r>
            <a:r>
              <a:rPr kumimoji="0" lang="en-US" altLang="en-US" sz="2400" b="0" i="0" u="none" strike="noStrike" cap="none" normalizeH="0" baseline="0" dirty="0" smtClean="0">
                <a:ln>
                  <a:noFill/>
                </a:ln>
                <a:solidFill>
                  <a:schemeClr val="tx1"/>
                </a:solidFill>
                <a:effectLst/>
                <a:latin typeface="Arial" panose="020B0604020202020204" pitchFamily="34" charset="0"/>
              </a:rPr>
              <a:t>.</a:t>
            </a:r>
            <a:endParaRPr kumimoji="0" lang="ar-SY"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1"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ar-SY"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2.</a:t>
            </a: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إدارة السجلات والملفات</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تمكين المستخدم من إنشاء ملف تعريفي لكل حيوان لمتابعة حالته وتفاصيله بدقة</a:t>
            </a:r>
            <a:r>
              <a:rPr kumimoji="0" lang="en-US" altLang="en-US" sz="2400" b="0" i="0" u="none" strike="noStrike" cap="none" normalizeH="0" baseline="0" dirty="0" smtClean="0">
                <a:ln>
                  <a:noFill/>
                </a:ln>
                <a:solidFill>
                  <a:schemeClr val="tx1"/>
                </a:solidFill>
                <a:effectLst/>
                <a:latin typeface="Arial" panose="020B0604020202020204" pitchFamily="34" charset="0"/>
              </a:rPr>
              <a:t>.</a:t>
            </a:r>
            <a:endParaRPr kumimoji="0" lang="ar-SY"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1"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ar-SY"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3.</a:t>
            </a: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أتمتة الحجز البيطري</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بناء نظام مرن يتيح للعميل اختيار الطبيب المفضل والوقت المناسب لدى العيادات المتاحة</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0237809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68616" y="474785"/>
            <a:ext cx="3956539"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rtl="1"/>
            <a:r>
              <a:rPr lang="ar-SY" sz="3600" b="1" dirty="0" smtClean="0"/>
              <a:t>الدراسة المرجعية</a:t>
            </a:r>
            <a:endParaRPr lang="en-US" sz="3600" b="1" dirty="0"/>
          </a:p>
        </p:txBody>
      </p:sp>
      <p:sp>
        <p:nvSpPr>
          <p:cNvPr id="7" name="Rectangle 3"/>
          <p:cNvSpPr>
            <a:spLocks noChangeArrowheads="1"/>
          </p:cNvSpPr>
          <p:nvPr/>
        </p:nvSpPr>
        <p:spPr bwMode="auto">
          <a:xfrm>
            <a:off x="0" y="1852878"/>
            <a:ext cx="12192000" cy="4154984"/>
          </a:xfrm>
          <a:prstGeom prst="rect">
            <a:avLst/>
          </a:prstGeom>
          <a:ln>
            <a:noFill/>
          </a:ln>
          <a:effectLst/>
          <a:extLst/>
        </p:spPr>
        <p:style>
          <a:lnRef idx="0">
            <a:scrgbClr r="0" g="0" b="0"/>
          </a:lnRef>
          <a:fillRef idx="1003">
            <a:schemeClr val="lt2"/>
          </a:fillRef>
          <a:effectRef idx="0">
            <a:scrgbClr r="0" g="0" b="0"/>
          </a:effectRef>
          <a:fontRef idx="major"/>
        </p:style>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تحليل المراجع المختارة</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تمت دراسة منصتي</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أليف</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(Aleef Store)</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و</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كوكي</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(Koki Store)</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كنموذج في قطاع</a:t>
            </a:r>
            <a:endParaRPr kumimoji="0" lang="en-US"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التجارة</a:t>
            </a:r>
            <a:r>
              <a:rPr kumimoji="0" lang="en-US"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الإلكترونية</a:t>
            </a:r>
            <a:r>
              <a:rPr lang="en-US" altLang="en-US" sz="2400" dirty="0">
                <a:latin typeface="Arial" panose="020B0604020202020204" pitchFamily="34" charset="0"/>
                <a:cs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لمستلزمات الحيوانات</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lvl="0" algn="r" rtl="1" eaLnBrk="0" fontAlgn="base" hangingPunct="0">
              <a:spcBef>
                <a:spcPct val="0"/>
              </a:spcBef>
              <a:spcAft>
                <a:spcPct val="0"/>
              </a:spcAft>
              <a:buFontTx/>
              <a:buChar char="•"/>
            </a:pP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التركيز التجاري</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توفر هذه المراجع تجربة تسوق مميزة، إلا أنها تقتصر على</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جانب </a:t>
            </a:r>
            <a:r>
              <a:rPr kumimoji="0" lang="ar-SY" altLang="en-US" sz="24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المتجر</a:t>
            </a:r>
            <a:r>
              <a:rPr lang="ar-SA" altLang="en-US" sz="2400" dirty="0">
                <a:latin typeface="Arial" panose="020B0604020202020204" pitchFamily="34" charset="0"/>
              </a:rPr>
              <a:t>الإلكتروني</a:t>
            </a:r>
            <a:r>
              <a:rPr kumimoji="0" lang="ar-SY" altLang="en-US" sz="2400" i="0" u="none" strike="noStrike" cap="none" normalizeH="0" dirty="0" smtClean="0">
                <a:ln>
                  <a:noFill/>
                </a:ln>
                <a:solidFill>
                  <a:schemeClr val="tx1"/>
                </a:solidFill>
                <a:effectLst/>
                <a:latin typeface="Arial" panose="020B0604020202020204" pitchFamily="34" charset="0"/>
                <a:cs typeface="Arial" panose="020B0604020202020204" pitchFamily="34" charset="0"/>
              </a:rPr>
              <a:t> </a:t>
            </a:r>
            <a:r>
              <a:rPr kumimoji="0" lang="ar-SA" altLang="en-US" sz="24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فقط</a:t>
            </a:r>
            <a:r>
              <a:rPr kumimoji="0" lang="en-US" altLang="en-US" sz="240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دون تقديم حلول</a:t>
            </a:r>
            <a:r>
              <a:rPr lang="en-US" altLang="en-US" sz="2400" dirty="0">
                <a:latin typeface="Arial" panose="020B0604020202020204" pitchFamily="34" charset="0"/>
                <a:cs typeface="Arial" panose="020B0604020202020204" pitchFamily="34" charset="0"/>
              </a:rPr>
              <a:t> </a:t>
            </a:r>
            <a:endParaRPr lang="ar-SY" altLang="en-US" sz="2400" dirty="0" smtClean="0">
              <a:latin typeface="Arial" panose="020B0604020202020204" pitchFamily="34" charset="0"/>
              <a:cs typeface="Arial" panose="020B0604020202020204" pitchFamily="34" charset="0"/>
            </a:endParaRPr>
          </a:p>
          <a:p>
            <a:pPr lvl="0" algn="r" rtl="1" eaLnBrk="0" fontAlgn="base" hangingPunct="0">
              <a:spcBef>
                <a:spcPct val="0"/>
              </a:spcBef>
              <a:spcAft>
                <a:spcPct val="0"/>
              </a:spcAft>
            </a:pP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تقنية للرعاية الصحية</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الفجوة المكتشفة</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لاحظنا افتقار السوق لمنصة</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هجينة</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تجمع بين المتجر الإلكتروني، السجلات الطبية، ونظام حجز</a:t>
            </a:r>
            <a:endParaRPr kumimoji="0" lang="en-US"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المواعيد</a:t>
            </a:r>
            <a:r>
              <a:rPr lang="en-US" altLang="en-US" sz="2400" dirty="0" smtClean="0">
                <a:latin typeface="Arial" panose="020B0604020202020204" pitchFamily="34" charset="0"/>
                <a:cs typeface="Arial" panose="020B0604020202020204" pitchFamily="34" charset="0"/>
              </a:rPr>
              <a:t>.</a:t>
            </a:r>
            <a:endParaRPr kumimoji="0" lang="en-US"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الهدف من الدراسة</a:t>
            </a:r>
            <a:r>
              <a:rPr kumimoji="0" lang="en-US" altLang="en-US" sz="2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استلهام "أفضل الممارسات</a:t>
            </a:r>
            <a:r>
              <a:rPr kumimoji="0" lang="ar-SY"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في تصميم المتاجر الرقمية، مع العمل على سد النقص في الخدمات </a:t>
            </a:r>
            <a:endParaRPr kumimoji="0" lang="en-US"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ar-SA" alt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اللوجستية والطبية التي يحتاجها المربي</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888430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76148" y="703384"/>
            <a:ext cx="4501660"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rtl="1"/>
            <a:r>
              <a:rPr lang="ar-SY" sz="2800" b="1" dirty="0" smtClean="0"/>
              <a:t>المتطلبات التي ستنفذ في هذا المشروع</a:t>
            </a:r>
            <a:endParaRPr lang="en-US" sz="2800" b="1" dirty="0"/>
          </a:p>
        </p:txBody>
      </p:sp>
      <p:graphicFrame>
        <p:nvGraphicFramePr>
          <p:cNvPr id="3" name="Table 2"/>
          <p:cNvGraphicFramePr>
            <a:graphicFrameLocks noGrp="1"/>
          </p:cNvGraphicFramePr>
          <p:nvPr>
            <p:extLst>
              <p:ext uri="{D42A27DB-BD31-4B8C-83A1-F6EECF244321}">
                <p14:modId xmlns:p14="http://schemas.microsoft.com/office/powerpoint/2010/main" val="3965043605"/>
              </p:ext>
            </p:extLst>
          </p:nvPr>
        </p:nvGraphicFramePr>
        <p:xfrm>
          <a:off x="5861956" y="2118069"/>
          <a:ext cx="6139544" cy="3724444"/>
        </p:xfrm>
        <a:graphic>
          <a:graphicData uri="http://schemas.openxmlformats.org/drawingml/2006/table">
            <a:tbl>
              <a:tblPr firstRow="1" bandRow="1">
                <a:tableStyleId>{5C22544A-7EE6-4342-B048-85BDC9FD1C3A}</a:tableStyleId>
              </a:tblPr>
              <a:tblGrid>
                <a:gridCol w="1039975">
                  <a:extLst>
                    <a:ext uri="{9D8B030D-6E8A-4147-A177-3AD203B41FA5}">
                      <a16:colId xmlns:a16="http://schemas.microsoft.com/office/drawing/2014/main" val="3783727169"/>
                    </a:ext>
                  </a:extLst>
                </a:gridCol>
                <a:gridCol w="3990967">
                  <a:extLst>
                    <a:ext uri="{9D8B030D-6E8A-4147-A177-3AD203B41FA5}">
                      <a16:colId xmlns:a16="http://schemas.microsoft.com/office/drawing/2014/main" val="263381587"/>
                    </a:ext>
                  </a:extLst>
                </a:gridCol>
                <a:gridCol w="1108602">
                  <a:extLst>
                    <a:ext uri="{9D8B030D-6E8A-4147-A177-3AD203B41FA5}">
                      <a16:colId xmlns:a16="http://schemas.microsoft.com/office/drawing/2014/main" val="3081193945"/>
                    </a:ext>
                  </a:extLst>
                </a:gridCol>
              </a:tblGrid>
              <a:tr h="371644">
                <a:tc>
                  <a:txBody>
                    <a:bodyPr/>
                    <a:lstStyle/>
                    <a:p>
                      <a:pPr algn="ctr"/>
                      <a:r>
                        <a:rPr lang="en-US" dirty="0" smtClean="0"/>
                        <a:t>REQ</a:t>
                      </a:r>
                      <a:r>
                        <a:rPr lang="en-US" baseline="0" dirty="0" smtClean="0"/>
                        <a:t> ID</a:t>
                      </a:r>
                      <a:endParaRPr lang="en-US" dirty="0"/>
                    </a:p>
                  </a:txBody>
                  <a:tcPr/>
                </a:tc>
                <a:tc>
                  <a:txBody>
                    <a:bodyPr/>
                    <a:lstStyle/>
                    <a:p>
                      <a:pPr algn="ctr"/>
                      <a:r>
                        <a:rPr lang="en-US" dirty="0" smtClean="0"/>
                        <a:t>Requirement</a:t>
                      </a:r>
                      <a:r>
                        <a:rPr lang="en-US" baseline="0" dirty="0" smtClean="0"/>
                        <a:t> Description </a:t>
                      </a:r>
                      <a:endParaRPr lang="en-US" dirty="0"/>
                    </a:p>
                  </a:txBody>
                  <a:tcPr/>
                </a:tc>
                <a:tc>
                  <a:txBody>
                    <a:bodyPr/>
                    <a:lstStyle/>
                    <a:p>
                      <a:pPr algn="ctr"/>
                      <a:r>
                        <a:rPr lang="en-US" dirty="0" smtClean="0"/>
                        <a:t>Priority</a:t>
                      </a:r>
                      <a:endParaRPr lang="en-US" dirty="0"/>
                    </a:p>
                  </a:txBody>
                  <a:tcPr/>
                </a:tc>
                <a:extLst>
                  <a:ext uri="{0D108BD9-81ED-4DB2-BD59-A6C34878D82A}">
                    <a16:rowId xmlns:a16="http://schemas.microsoft.com/office/drawing/2014/main" val="2601387581"/>
                  </a:ext>
                </a:extLst>
              </a:tr>
              <a:tr h="597094">
                <a:tc>
                  <a:txBody>
                    <a:bodyPr/>
                    <a:lstStyle/>
                    <a:p>
                      <a:pPr algn="ctr"/>
                      <a:r>
                        <a:rPr lang="en-US" dirty="0" smtClean="0"/>
                        <a:t>R(11,12)</a:t>
                      </a:r>
                      <a:endParaRPr lang="en-US" dirty="0"/>
                    </a:p>
                  </a:txBody>
                  <a:tcPr/>
                </a:tc>
                <a:tc>
                  <a:txBody>
                    <a:bodyPr/>
                    <a:lstStyle/>
                    <a:p>
                      <a:pPr algn="r" rtl="1"/>
                      <a:r>
                        <a:rPr lang="ar-SY" dirty="0" smtClean="0"/>
                        <a:t>تسجيل دخول وخروج مدير النظام (</a:t>
                      </a:r>
                      <a:r>
                        <a:rPr lang="en-US" dirty="0" smtClean="0"/>
                        <a:t>Admin Authentication</a:t>
                      </a:r>
                      <a:r>
                        <a:rPr lang="ar-SY" dirty="0" smtClean="0"/>
                        <a:t>)</a:t>
                      </a:r>
                      <a:endParaRPr lang="en-US" dirty="0"/>
                    </a:p>
                  </a:txBody>
                  <a:tcPr/>
                </a:tc>
                <a:tc>
                  <a:txBody>
                    <a:bodyPr/>
                    <a:lstStyle/>
                    <a:p>
                      <a:pPr algn="ctr"/>
                      <a:r>
                        <a:rPr lang="ar-SY" sz="2000" dirty="0" smtClean="0"/>
                        <a:t>1</a:t>
                      </a:r>
                      <a:endParaRPr lang="en-US" sz="2000" dirty="0"/>
                    </a:p>
                  </a:txBody>
                  <a:tcPr/>
                </a:tc>
                <a:extLst>
                  <a:ext uri="{0D108BD9-81ED-4DB2-BD59-A6C34878D82A}">
                    <a16:rowId xmlns:a16="http://schemas.microsoft.com/office/drawing/2014/main" val="3721859969"/>
                  </a:ext>
                </a:extLst>
              </a:tr>
              <a:tr h="597094">
                <a:tc>
                  <a:txBody>
                    <a:bodyPr/>
                    <a:lstStyle/>
                    <a:p>
                      <a:pPr algn="ctr"/>
                      <a:r>
                        <a:rPr lang="en-US" dirty="0" smtClean="0"/>
                        <a:t>R(13..16)</a:t>
                      </a:r>
                      <a:endParaRPr lang="en-US" dirty="0"/>
                    </a:p>
                  </a:txBody>
                  <a:tcPr/>
                </a:tc>
                <a:tc>
                  <a:txBody>
                    <a:bodyPr/>
                    <a:lstStyle/>
                    <a:p>
                      <a:pPr algn="r" rtl="1"/>
                      <a:r>
                        <a:rPr lang="ar-SY" dirty="0" smtClean="0"/>
                        <a:t>إدارة تصنيفات المنتجات </a:t>
                      </a:r>
                      <a:r>
                        <a:rPr lang="en-US" dirty="0" smtClean="0"/>
                        <a:t>(Category CRUD Operations</a:t>
                      </a:r>
                      <a:r>
                        <a:rPr lang="ar-SY" dirty="0" smtClean="0"/>
                        <a:t>)</a:t>
                      </a:r>
                      <a:endParaRPr lang="en-US" dirty="0"/>
                    </a:p>
                  </a:txBody>
                  <a:tcPr/>
                </a:tc>
                <a:tc>
                  <a:txBody>
                    <a:bodyPr/>
                    <a:lstStyle/>
                    <a:p>
                      <a:pPr algn="ctr"/>
                      <a:r>
                        <a:rPr lang="ar-SY" sz="2000" dirty="0" smtClean="0"/>
                        <a:t>2</a:t>
                      </a:r>
                      <a:endParaRPr lang="en-US" sz="2000" dirty="0"/>
                    </a:p>
                  </a:txBody>
                  <a:tcPr/>
                </a:tc>
                <a:extLst>
                  <a:ext uri="{0D108BD9-81ED-4DB2-BD59-A6C34878D82A}">
                    <a16:rowId xmlns:a16="http://schemas.microsoft.com/office/drawing/2014/main" val="4248819940"/>
                  </a:ext>
                </a:extLst>
              </a:tr>
              <a:tr h="371644">
                <a:tc>
                  <a:txBody>
                    <a:bodyPr/>
                    <a:lstStyle/>
                    <a:p>
                      <a:pPr algn="ctr"/>
                      <a:r>
                        <a:rPr lang="en-US" dirty="0" smtClean="0"/>
                        <a:t>R(17..20)</a:t>
                      </a:r>
                      <a:endParaRPr lang="en-US" dirty="0"/>
                    </a:p>
                  </a:txBody>
                  <a:tcPr/>
                </a:tc>
                <a:tc>
                  <a:txBody>
                    <a:bodyPr/>
                    <a:lstStyle/>
                    <a:p>
                      <a:pPr algn="r" rtl="1"/>
                      <a:r>
                        <a:rPr lang="ar-SY" dirty="0" smtClean="0"/>
                        <a:t>إدارة بيانات المنتجات </a:t>
                      </a:r>
                      <a:r>
                        <a:rPr lang="en-US" dirty="0" smtClean="0"/>
                        <a:t>Product CRUD Operations)</a:t>
                      </a:r>
                      <a:r>
                        <a:rPr lang="ar-SY" dirty="0" smtClean="0"/>
                        <a:t>)</a:t>
                      </a:r>
                      <a:endParaRPr lang="en-US" dirty="0"/>
                    </a:p>
                  </a:txBody>
                  <a:tcPr/>
                </a:tc>
                <a:tc>
                  <a:txBody>
                    <a:bodyPr/>
                    <a:lstStyle/>
                    <a:p>
                      <a:pPr algn="ctr"/>
                      <a:r>
                        <a:rPr lang="en-US" sz="2000" dirty="0" smtClean="0"/>
                        <a:t>3</a:t>
                      </a:r>
                      <a:endParaRPr lang="en-US" sz="2000" dirty="0"/>
                    </a:p>
                  </a:txBody>
                  <a:tcPr/>
                </a:tc>
                <a:extLst>
                  <a:ext uri="{0D108BD9-81ED-4DB2-BD59-A6C34878D82A}">
                    <a16:rowId xmlns:a16="http://schemas.microsoft.com/office/drawing/2014/main" val="3131888102"/>
                  </a:ext>
                </a:extLst>
              </a:tr>
              <a:tr h="597094">
                <a:tc>
                  <a:txBody>
                    <a:bodyPr/>
                    <a:lstStyle/>
                    <a:p>
                      <a:pPr algn="ctr"/>
                      <a:r>
                        <a:rPr lang="en-US" dirty="0" smtClean="0"/>
                        <a:t>R(21..23)</a:t>
                      </a:r>
                      <a:endParaRPr lang="en-US" dirty="0"/>
                    </a:p>
                  </a:txBody>
                  <a:tcPr/>
                </a:tc>
                <a:tc>
                  <a:txBody>
                    <a:bodyPr/>
                    <a:lstStyle/>
                    <a:p>
                      <a:pPr algn="r" rtl="1"/>
                      <a:r>
                        <a:rPr lang="ar-SY" dirty="0" smtClean="0"/>
                        <a:t> البحث عن المنتجات وعرض التفاصيل </a:t>
                      </a:r>
                      <a:r>
                        <a:rPr lang="en-US" dirty="0" smtClean="0"/>
                        <a:t>Search &amp; Details)</a:t>
                      </a:r>
                      <a:r>
                        <a:rPr lang="ar-SY" dirty="0" smtClean="0"/>
                        <a:t>)</a:t>
                      </a:r>
                      <a:endParaRPr lang="en-US" dirty="0"/>
                    </a:p>
                  </a:txBody>
                  <a:tcPr/>
                </a:tc>
                <a:tc>
                  <a:txBody>
                    <a:bodyPr/>
                    <a:lstStyle/>
                    <a:p>
                      <a:pPr algn="ctr"/>
                      <a:r>
                        <a:rPr lang="en-US" sz="2000" dirty="0" smtClean="0"/>
                        <a:t>5</a:t>
                      </a:r>
                      <a:endParaRPr lang="en-US" sz="2000" dirty="0"/>
                    </a:p>
                  </a:txBody>
                  <a:tcPr/>
                </a:tc>
                <a:extLst>
                  <a:ext uri="{0D108BD9-81ED-4DB2-BD59-A6C34878D82A}">
                    <a16:rowId xmlns:a16="http://schemas.microsoft.com/office/drawing/2014/main" val="1190209392"/>
                  </a:ext>
                </a:extLst>
              </a:tr>
              <a:tr h="371644">
                <a:tc>
                  <a:txBody>
                    <a:bodyPr/>
                    <a:lstStyle/>
                    <a:p>
                      <a:pPr algn="ctr"/>
                      <a:r>
                        <a:rPr lang="en-US" dirty="0" smtClean="0"/>
                        <a:t>R(24..27)</a:t>
                      </a:r>
                      <a:endParaRPr lang="en-US" dirty="0"/>
                    </a:p>
                  </a:txBody>
                  <a:tcPr/>
                </a:tc>
                <a:tc>
                  <a:txBody>
                    <a:bodyPr/>
                    <a:lstStyle/>
                    <a:p>
                      <a:pPr algn="r" rtl="1"/>
                      <a:r>
                        <a:rPr lang="ar-SY" dirty="0" smtClean="0"/>
                        <a:t>إدارة عربة التسوق </a:t>
                      </a:r>
                      <a:r>
                        <a:rPr lang="en-US" baseline="0" dirty="0" smtClean="0"/>
                        <a:t>(</a:t>
                      </a:r>
                      <a:r>
                        <a:rPr lang="en-US" dirty="0" smtClean="0"/>
                        <a:t>Cart </a:t>
                      </a:r>
                      <a:r>
                        <a:rPr lang="en-US" dirty="0" smtClean="0"/>
                        <a:t>Management)</a:t>
                      </a:r>
                      <a:endParaRPr lang="en-US" dirty="0"/>
                    </a:p>
                  </a:txBody>
                  <a:tcPr/>
                </a:tc>
                <a:tc>
                  <a:txBody>
                    <a:bodyPr/>
                    <a:lstStyle/>
                    <a:p>
                      <a:pPr algn="ctr"/>
                      <a:r>
                        <a:rPr lang="en-US" sz="2000" dirty="0" smtClean="0"/>
                        <a:t>6</a:t>
                      </a:r>
                      <a:endParaRPr lang="en-US" sz="2000" dirty="0"/>
                    </a:p>
                  </a:txBody>
                  <a:tcPr/>
                </a:tc>
                <a:extLst>
                  <a:ext uri="{0D108BD9-81ED-4DB2-BD59-A6C34878D82A}">
                    <a16:rowId xmlns:a16="http://schemas.microsoft.com/office/drawing/2014/main" val="7620340"/>
                  </a:ext>
                </a:extLst>
              </a:tr>
              <a:tr h="371644">
                <a:tc>
                  <a:txBody>
                    <a:bodyPr/>
                    <a:lstStyle/>
                    <a:p>
                      <a:pPr algn="ctr"/>
                      <a:r>
                        <a:rPr lang="en-US" dirty="0" smtClean="0"/>
                        <a:t>R(28..30)</a:t>
                      </a:r>
                      <a:endParaRPr lang="en-US" dirty="0"/>
                    </a:p>
                  </a:txBody>
                  <a:tcPr/>
                </a:tc>
                <a:tc>
                  <a:txBody>
                    <a:bodyPr/>
                    <a:lstStyle/>
                    <a:p>
                      <a:pPr algn="r" rtl="1"/>
                      <a:r>
                        <a:rPr lang="ar-SY" dirty="0" smtClean="0"/>
                        <a:t>إدارة </a:t>
                      </a:r>
                      <a:r>
                        <a:rPr lang="ar-SY" dirty="0" smtClean="0"/>
                        <a:t>قائمة الأمنيات</a:t>
                      </a:r>
                      <a:r>
                        <a:rPr lang="ar-SY" baseline="0" dirty="0" smtClean="0"/>
                        <a:t> </a:t>
                      </a:r>
                      <a:r>
                        <a:rPr lang="en-US" dirty="0" smtClean="0"/>
                        <a:t>Wishlist Management)</a:t>
                      </a:r>
                      <a:r>
                        <a:rPr lang="ar-SY" dirty="0" smtClean="0"/>
                        <a:t>)</a:t>
                      </a:r>
                      <a:endParaRPr lang="en-US" dirty="0"/>
                    </a:p>
                  </a:txBody>
                  <a:tcPr/>
                </a:tc>
                <a:tc>
                  <a:txBody>
                    <a:bodyPr/>
                    <a:lstStyle/>
                    <a:p>
                      <a:pPr algn="ctr"/>
                      <a:r>
                        <a:rPr lang="en-US" sz="2000" dirty="0" smtClean="0"/>
                        <a:t>7</a:t>
                      </a:r>
                      <a:endParaRPr lang="en-US" sz="2000" dirty="0"/>
                    </a:p>
                  </a:txBody>
                  <a:tcPr/>
                </a:tc>
                <a:extLst>
                  <a:ext uri="{0D108BD9-81ED-4DB2-BD59-A6C34878D82A}">
                    <a16:rowId xmlns:a16="http://schemas.microsoft.com/office/drawing/2014/main" val="1167587990"/>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213115779"/>
              </p:ext>
            </p:extLst>
          </p:nvPr>
        </p:nvGraphicFramePr>
        <p:xfrm>
          <a:off x="190500" y="2134775"/>
          <a:ext cx="5448299" cy="3707737"/>
        </p:xfrm>
        <a:graphic>
          <a:graphicData uri="http://schemas.openxmlformats.org/drawingml/2006/table">
            <a:tbl>
              <a:tblPr firstRow="1" bandRow="1">
                <a:tableStyleId>{5C22544A-7EE6-4342-B048-85BDC9FD1C3A}</a:tableStyleId>
              </a:tblPr>
              <a:tblGrid>
                <a:gridCol w="1547185">
                  <a:extLst>
                    <a:ext uri="{9D8B030D-6E8A-4147-A177-3AD203B41FA5}">
                      <a16:colId xmlns:a16="http://schemas.microsoft.com/office/drawing/2014/main" val="2695206884"/>
                    </a:ext>
                  </a:extLst>
                </a:gridCol>
                <a:gridCol w="3901114">
                  <a:extLst>
                    <a:ext uri="{9D8B030D-6E8A-4147-A177-3AD203B41FA5}">
                      <a16:colId xmlns:a16="http://schemas.microsoft.com/office/drawing/2014/main" val="2988786106"/>
                    </a:ext>
                  </a:extLst>
                </a:gridCol>
              </a:tblGrid>
              <a:tr h="6484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REQ</a:t>
                      </a:r>
                      <a:r>
                        <a:rPr lang="en-US" baseline="0" dirty="0" smtClean="0"/>
                        <a:t> ID</a:t>
                      </a:r>
                      <a:endParaRPr lang="en-US"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Requirement</a:t>
                      </a:r>
                      <a:r>
                        <a:rPr lang="en-US" baseline="0" dirty="0" smtClean="0"/>
                        <a:t> Description </a:t>
                      </a:r>
                      <a:endParaRPr lang="en-US" dirty="0" smtClean="0"/>
                    </a:p>
                  </a:txBody>
                  <a:tcPr/>
                </a:tc>
                <a:extLst>
                  <a:ext uri="{0D108BD9-81ED-4DB2-BD59-A6C34878D82A}">
                    <a16:rowId xmlns:a16="http://schemas.microsoft.com/office/drawing/2014/main" val="4170697312"/>
                  </a:ext>
                </a:extLst>
              </a:tr>
              <a:tr h="1019777">
                <a:tc>
                  <a:txBody>
                    <a:bodyPr/>
                    <a:lstStyle/>
                    <a:p>
                      <a:pPr algn="ctr"/>
                      <a:r>
                        <a:rPr lang="en-US" sz="2000" dirty="0" smtClean="0"/>
                        <a:t>R(1,2)</a:t>
                      </a:r>
                      <a:endParaRPr lang="en-US" sz="2000" dirty="0"/>
                    </a:p>
                  </a:txBody>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SY" sz="2000" dirty="0" smtClean="0"/>
                        <a:t>تسجيل دخول وخروج المستخدم(</a:t>
                      </a:r>
                      <a:r>
                        <a:rPr lang="en-US" sz="2000" dirty="0" smtClean="0"/>
                        <a:t>User Authentication</a:t>
                      </a:r>
                      <a:r>
                        <a:rPr lang="ar-SY" sz="2000" dirty="0" smtClean="0"/>
                        <a:t>)</a:t>
                      </a:r>
                      <a:endParaRPr lang="en-US" sz="2000" dirty="0" smtClean="0"/>
                    </a:p>
                  </a:txBody>
                  <a:tcPr/>
                </a:tc>
                <a:extLst>
                  <a:ext uri="{0D108BD9-81ED-4DB2-BD59-A6C34878D82A}">
                    <a16:rowId xmlns:a16="http://schemas.microsoft.com/office/drawing/2014/main" val="1193915797"/>
                  </a:ext>
                </a:extLst>
              </a:tr>
              <a:tr h="1019777">
                <a:tc>
                  <a:txBody>
                    <a:bodyPr/>
                    <a:lstStyle/>
                    <a:p>
                      <a:pPr algn="ctr" rtl="0"/>
                      <a:r>
                        <a:rPr lang="en-US" sz="2000" dirty="0" smtClean="0"/>
                        <a:t>R(3..6)</a:t>
                      </a:r>
                      <a:endParaRPr lang="en-US" sz="2000" dirty="0"/>
                    </a:p>
                  </a:txBody>
                  <a:tcPr/>
                </a:tc>
                <a:tc>
                  <a:txBody>
                    <a:bodyPr/>
                    <a:lstStyle/>
                    <a:p>
                      <a:pPr algn="r" rtl="1"/>
                      <a:r>
                        <a:rPr lang="ar-SY" sz="2000" dirty="0" smtClean="0"/>
                        <a:t>إدارة حساب المستخدم (</a:t>
                      </a:r>
                      <a:r>
                        <a:rPr lang="en-US" sz="2000" dirty="0" smtClean="0"/>
                        <a:t>User Profile</a:t>
                      </a:r>
                      <a:r>
                        <a:rPr lang="en-US" sz="2000" baseline="0" dirty="0" smtClean="0"/>
                        <a:t> CRUD Operations</a:t>
                      </a:r>
                      <a:r>
                        <a:rPr lang="ar-SY" sz="2000" dirty="0" smtClean="0"/>
                        <a:t>)</a:t>
                      </a:r>
                      <a:endParaRPr lang="en-US" sz="2000" dirty="0"/>
                    </a:p>
                  </a:txBody>
                  <a:tcPr/>
                </a:tc>
                <a:extLst>
                  <a:ext uri="{0D108BD9-81ED-4DB2-BD59-A6C34878D82A}">
                    <a16:rowId xmlns:a16="http://schemas.microsoft.com/office/drawing/2014/main" val="2332947012"/>
                  </a:ext>
                </a:extLst>
              </a:tr>
              <a:tr h="1019777">
                <a:tc>
                  <a:txBody>
                    <a:bodyPr/>
                    <a:lstStyle/>
                    <a:p>
                      <a:pPr algn="ctr"/>
                      <a:r>
                        <a:rPr lang="en-US" sz="2000" dirty="0" smtClean="0"/>
                        <a:t>R(7..10)</a:t>
                      </a:r>
                      <a:endParaRPr lang="en-US" sz="2000" dirty="0"/>
                    </a:p>
                  </a:txBody>
                  <a:tcPr/>
                </a:tc>
                <a:tc>
                  <a:txBody>
                    <a:bodyPr/>
                    <a:lstStyle/>
                    <a:p>
                      <a:pPr algn="r" rtl="1"/>
                      <a:r>
                        <a:rPr lang="ar-SY" dirty="0" smtClean="0"/>
                        <a:t>إدارة ملف الحيوان الأليف (</a:t>
                      </a:r>
                      <a:r>
                        <a:rPr lang="en-US" dirty="0" smtClean="0"/>
                        <a:t>Pet Profile CRUD Operations</a:t>
                      </a:r>
                      <a:r>
                        <a:rPr lang="ar-SY" dirty="0" smtClean="0"/>
                        <a:t>)</a:t>
                      </a:r>
                      <a:endParaRPr lang="en-US" dirty="0"/>
                    </a:p>
                  </a:txBody>
                  <a:tcPr/>
                </a:tc>
                <a:extLst>
                  <a:ext uri="{0D108BD9-81ED-4DB2-BD59-A6C34878D82A}">
                    <a16:rowId xmlns:a16="http://schemas.microsoft.com/office/drawing/2014/main" val="946047966"/>
                  </a:ext>
                </a:extLst>
              </a:tr>
            </a:tbl>
          </a:graphicData>
        </a:graphic>
      </p:graphicFrame>
      <p:sp>
        <p:nvSpPr>
          <p:cNvPr id="5" name="TextBox 4"/>
          <p:cNvSpPr txBox="1"/>
          <p:nvPr/>
        </p:nvSpPr>
        <p:spPr>
          <a:xfrm>
            <a:off x="362683" y="918827"/>
            <a:ext cx="4396154"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rtl="1"/>
            <a:r>
              <a:rPr lang="ar-SY" sz="2800" b="1" dirty="0" smtClean="0"/>
              <a:t>المتطلبات المنجزة مسبقاً</a:t>
            </a:r>
            <a:endParaRPr lang="en-US" sz="2800" b="1" dirty="0"/>
          </a:p>
        </p:txBody>
      </p:sp>
    </p:spTree>
    <p:extLst>
      <p:ext uri="{BB962C8B-B14F-4D97-AF65-F5344CB8AC3E}">
        <p14:creationId xmlns:p14="http://schemas.microsoft.com/office/powerpoint/2010/main" val="11522431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92667" y="184484"/>
            <a:ext cx="4812632"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rtl="1"/>
            <a:r>
              <a:rPr lang="ar-SY" sz="3600" b="1" dirty="0" smtClean="0"/>
              <a:t>المنهجية المتبعة</a:t>
            </a:r>
            <a:endParaRPr lang="en-US" sz="3600" b="1"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937" y="1063766"/>
            <a:ext cx="10322092" cy="5794234"/>
          </a:xfrm>
          <a:prstGeom prst="rect">
            <a:avLst/>
          </a:prstGeom>
        </p:spPr>
      </p:pic>
    </p:spTree>
    <p:extLst>
      <p:ext uri="{BB962C8B-B14F-4D97-AF65-F5344CB8AC3E}">
        <p14:creationId xmlns:p14="http://schemas.microsoft.com/office/powerpoint/2010/main" val="35798188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93024" y="247486"/>
            <a:ext cx="5908431"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rtl="1"/>
            <a:r>
              <a:rPr lang="ar-SY" sz="3600" b="1" dirty="0" smtClean="0"/>
              <a:t>مخطط غانت</a:t>
            </a:r>
            <a:endParaRPr lang="en-US" sz="36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900" y="1206500"/>
            <a:ext cx="11760200" cy="5524499"/>
          </a:xfrm>
          <a:prstGeom prst="rect">
            <a:avLst/>
          </a:prstGeom>
        </p:spPr>
      </p:pic>
    </p:spTree>
    <p:extLst>
      <p:ext uri="{BB962C8B-B14F-4D97-AF65-F5344CB8AC3E}">
        <p14:creationId xmlns:p14="http://schemas.microsoft.com/office/powerpoint/2010/main" val="23392542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86100" y="254977"/>
            <a:ext cx="5644662"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rtl="1"/>
            <a:r>
              <a:rPr lang="ar-SY" sz="3600" b="1" dirty="0" smtClean="0"/>
              <a:t>المعمارية المستخدمة</a:t>
            </a:r>
            <a:endParaRPr lang="en-US" sz="36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827" y="2792581"/>
            <a:ext cx="5352073" cy="3231601"/>
          </a:xfrm>
          <a:prstGeom prst="rect">
            <a:avLst/>
          </a:prstGeom>
        </p:spPr>
      </p:pic>
      <p:sp>
        <p:nvSpPr>
          <p:cNvPr id="6" name="TextBox 5"/>
          <p:cNvSpPr txBox="1"/>
          <p:nvPr/>
        </p:nvSpPr>
        <p:spPr>
          <a:xfrm>
            <a:off x="7416627" y="1665250"/>
            <a:ext cx="2823796" cy="461665"/>
          </a:xfrm>
          <a:prstGeom prst="rect">
            <a:avLst/>
          </a:prstGeom>
          <a:solidFill>
            <a:schemeClr val="accent1">
              <a:lumMod val="20000"/>
              <a:lumOff val="80000"/>
            </a:schemeClr>
          </a:solidFill>
          <a:ln/>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smtClean="0">
                <a:solidFill>
                  <a:schemeClr val="tx1"/>
                </a:solidFill>
              </a:rPr>
              <a:t>System Architecture</a:t>
            </a:r>
            <a:endParaRPr lang="en-US" b="1" dirty="0">
              <a:solidFill>
                <a:schemeClr val="tx1"/>
              </a:solidFill>
            </a:endParaRPr>
          </a:p>
        </p:txBody>
      </p:sp>
      <p:sp>
        <p:nvSpPr>
          <p:cNvPr id="7" name="TextBox 6"/>
          <p:cNvSpPr txBox="1"/>
          <p:nvPr/>
        </p:nvSpPr>
        <p:spPr>
          <a:xfrm>
            <a:off x="1333130" y="1665250"/>
            <a:ext cx="3300779" cy="461665"/>
          </a:xfrm>
          <a:prstGeom prst="rect">
            <a:avLst/>
          </a:prstGeom>
          <a:solidFill>
            <a:schemeClr val="accent1">
              <a:lumMod val="20000"/>
              <a:lumOff val="80000"/>
            </a:schemeClr>
          </a:solidFill>
          <a:ln/>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smtClean="0">
                <a:solidFill>
                  <a:schemeClr val="tx1"/>
                </a:solidFill>
              </a:rPr>
              <a:t>Software Architecture</a:t>
            </a:r>
            <a:endParaRPr lang="en-US" b="1" dirty="0">
              <a:solidFill>
                <a:schemeClr val="tx1"/>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2679456"/>
            <a:ext cx="6248400" cy="3344726"/>
          </a:xfrm>
          <a:prstGeom prst="rect">
            <a:avLst/>
          </a:prstGeom>
        </p:spPr>
      </p:pic>
    </p:spTree>
    <p:extLst>
      <p:ext uri="{BB962C8B-B14F-4D97-AF65-F5344CB8AC3E}">
        <p14:creationId xmlns:p14="http://schemas.microsoft.com/office/powerpoint/2010/main" val="9672593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63108" y="580293"/>
            <a:ext cx="4185138"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rtl="1"/>
            <a:r>
              <a:rPr lang="ar-SY" sz="3600" b="1" dirty="0" smtClean="0"/>
              <a:t>الأدوات المستخدمة</a:t>
            </a:r>
            <a:endParaRPr lang="en-US" sz="3600" b="1" dirty="0"/>
          </a:p>
        </p:txBody>
      </p:sp>
      <p:pic>
        <p:nvPicPr>
          <p:cNvPr id="1026" name="Picture 2" descr="flutter-logo-png_seeklogo-3495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3143" y="2989979"/>
            <a:ext cx="3129329" cy="2305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0071" y="2989979"/>
            <a:ext cx="4035669" cy="2154392"/>
          </a:xfrm>
          <a:prstGeom prst="rect">
            <a:avLst/>
          </a:prstGeom>
        </p:spPr>
      </p:pic>
      <p:sp>
        <p:nvSpPr>
          <p:cNvPr id="6" name="TextBox 5"/>
          <p:cNvSpPr txBox="1"/>
          <p:nvPr/>
        </p:nvSpPr>
        <p:spPr>
          <a:xfrm>
            <a:off x="7948244" y="1877469"/>
            <a:ext cx="2219325" cy="461665"/>
          </a:xfrm>
          <a:prstGeom prst="rect">
            <a:avLst/>
          </a:prstGeom>
          <a:solidFill>
            <a:schemeClr val="accent1">
              <a:lumMod val="20000"/>
              <a:lumOff val="80000"/>
            </a:schemeClr>
          </a:solidFill>
          <a:ln/>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smtClean="0">
                <a:solidFill>
                  <a:schemeClr val="tx1"/>
                </a:solidFill>
              </a:rPr>
              <a:t>Backend</a:t>
            </a:r>
            <a:endParaRPr lang="en-US" b="1" dirty="0">
              <a:solidFill>
                <a:schemeClr val="tx1"/>
              </a:solidFill>
            </a:endParaRPr>
          </a:p>
        </p:txBody>
      </p:sp>
      <p:sp>
        <p:nvSpPr>
          <p:cNvPr id="9" name="TextBox 8"/>
          <p:cNvSpPr txBox="1"/>
          <p:nvPr/>
        </p:nvSpPr>
        <p:spPr>
          <a:xfrm>
            <a:off x="2068146" y="1877469"/>
            <a:ext cx="2219325" cy="461665"/>
          </a:xfrm>
          <a:prstGeom prst="rect">
            <a:avLst/>
          </a:prstGeom>
          <a:solidFill>
            <a:schemeClr val="accent1">
              <a:lumMod val="20000"/>
              <a:lumOff val="80000"/>
            </a:schemeClr>
          </a:solidFill>
          <a:ln/>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smtClean="0">
                <a:solidFill>
                  <a:schemeClr val="tx1"/>
                </a:solidFill>
              </a:rPr>
              <a:t>Frontend</a:t>
            </a:r>
            <a:endParaRPr lang="en-US" b="1" dirty="0">
              <a:solidFill>
                <a:schemeClr val="tx1"/>
              </a:solidFill>
            </a:endParaRPr>
          </a:p>
        </p:txBody>
      </p:sp>
    </p:spTree>
    <p:extLst>
      <p:ext uri="{BB962C8B-B14F-4D97-AF65-F5344CB8AC3E}">
        <p14:creationId xmlns:p14="http://schemas.microsoft.com/office/powerpoint/2010/main" val="13432172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81174" y="0"/>
            <a:ext cx="6219824"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3600" b="1" dirty="0" smtClean="0"/>
              <a:t>High Level Use Case Diagram</a:t>
            </a:r>
            <a:endParaRPr lang="en-US" sz="36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644" y="784101"/>
            <a:ext cx="7524883" cy="5106769"/>
          </a:xfrm>
          <a:prstGeom prst="rect">
            <a:avLst/>
          </a:prstGeom>
        </p:spPr>
      </p:pic>
      <p:sp>
        <p:nvSpPr>
          <p:cNvPr id="5" name="Rectangle 4"/>
          <p:cNvSpPr/>
          <p:nvPr/>
        </p:nvSpPr>
        <p:spPr>
          <a:xfrm>
            <a:off x="9116657" y="6189881"/>
            <a:ext cx="255943" cy="2095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433492" y="6189881"/>
            <a:ext cx="219075" cy="209550"/>
          </a:xfrm>
          <a:prstGeom prst="rect">
            <a:avLst/>
          </a:prstGeom>
          <a:solidFill>
            <a:srgbClr val="C3F7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04698" y="6114455"/>
            <a:ext cx="3628794" cy="369332"/>
          </a:xfrm>
          <a:prstGeom prst="rect">
            <a:avLst/>
          </a:prstGeom>
          <a:noFill/>
        </p:spPr>
        <p:txBody>
          <a:bodyPr wrap="square" rtlCol="0">
            <a:spAutoFit/>
          </a:bodyPr>
          <a:lstStyle/>
          <a:p>
            <a:pPr algn="r" rtl="1"/>
            <a:r>
              <a:rPr lang="ar-SY" dirty="0" smtClean="0"/>
              <a:t>حالات الاستخدام المنفذة في المشروع الفصلي</a:t>
            </a:r>
            <a:endParaRPr lang="en-US" dirty="0"/>
          </a:p>
        </p:txBody>
      </p:sp>
      <p:sp>
        <p:nvSpPr>
          <p:cNvPr id="8" name="TextBox 7"/>
          <p:cNvSpPr txBox="1"/>
          <p:nvPr/>
        </p:nvSpPr>
        <p:spPr>
          <a:xfrm>
            <a:off x="5182497" y="6114455"/>
            <a:ext cx="3934160" cy="369332"/>
          </a:xfrm>
          <a:prstGeom prst="rect">
            <a:avLst/>
          </a:prstGeom>
          <a:noFill/>
        </p:spPr>
        <p:txBody>
          <a:bodyPr wrap="square" rtlCol="0">
            <a:spAutoFit/>
          </a:bodyPr>
          <a:lstStyle/>
          <a:p>
            <a:pPr algn="r"/>
            <a:r>
              <a:rPr lang="ar-SY" dirty="0" smtClean="0"/>
              <a:t>حالات الاستخدام التي ستنفذ في مشروع تخرج 1</a:t>
            </a:r>
            <a:endParaRPr lang="en-US" dirty="0"/>
          </a:p>
        </p:txBody>
      </p:sp>
    </p:spTree>
    <p:extLst>
      <p:ext uri="{BB962C8B-B14F-4D97-AF65-F5344CB8AC3E}">
        <p14:creationId xmlns:p14="http://schemas.microsoft.com/office/powerpoint/2010/main" val="39452033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8756196"/>
              </p:ext>
            </p:extLst>
          </p:nvPr>
        </p:nvGraphicFramePr>
        <p:xfrm>
          <a:off x="1104899" y="1363980"/>
          <a:ext cx="9944100" cy="5217160"/>
        </p:xfrm>
        <a:graphic>
          <a:graphicData uri="http://schemas.openxmlformats.org/drawingml/2006/table">
            <a:tbl>
              <a:tblPr firstRow="1" bandRow="1">
                <a:tableStyleId>{5C22544A-7EE6-4342-B048-85BDC9FD1C3A}</a:tableStyleId>
              </a:tblPr>
              <a:tblGrid>
                <a:gridCol w="1988820">
                  <a:extLst>
                    <a:ext uri="{9D8B030D-6E8A-4147-A177-3AD203B41FA5}">
                      <a16:colId xmlns:a16="http://schemas.microsoft.com/office/drawing/2014/main" val="44857444"/>
                    </a:ext>
                  </a:extLst>
                </a:gridCol>
                <a:gridCol w="1988820">
                  <a:extLst>
                    <a:ext uri="{9D8B030D-6E8A-4147-A177-3AD203B41FA5}">
                      <a16:colId xmlns:a16="http://schemas.microsoft.com/office/drawing/2014/main" val="3326671184"/>
                    </a:ext>
                  </a:extLst>
                </a:gridCol>
                <a:gridCol w="1988820">
                  <a:extLst>
                    <a:ext uri="{9D8B030D-6E8A-4147-A177-3AD203B41FA5}">
                      <a16:colId xmlns:a16="http://schemas.microsoft.com/office/drawing/2014/main" val="1482486295"/>
                    </a:ext>
                  </a:extLst>
                </a:gridCol>
                <a:gridCol w="1988820">
                  <a:extLst>
                    <a:ext uri="{9D8B030D-6E8A-4147-A177-3AD203B41FA5}">
                      <a16:colId xmlns:a16="http://schemas.microsoft.com/office/drawing/2014/main" val="4244711080"/>
                    </a:ext>
                  </a:extLst>
                </a:gridCol>
                <a:gridCol w="1988820">
                  <a:extLst>
                    <a:ext uri="{9D8B030D-6E8A-4147-A177-3AD203B41FA5}">
                      <a16:colId xmlns:a16="http://schemas.microsoft.com/office/drawing/2014/main" val="2226111173"/>
                    </a:ext>
                  </a:extLst>
                </a:gridCol>
              </a:tblGrid>
              <a:tr h="370840">
                <a:tc>
                  <a:txBody>
                    <a:bodyPr/>
                    <a:lstStyle/>
                    <a:p>
                      <a:pPr algn="ctr"/>
                      <a:r>
                        <a:rPr lang="en-US" baseline="0" dirty="0" smtClean="0"/>
                        <a:t>Test ID</a:t>
                      </a:r>
                      <a:endParaRPr lang="en-US" dirty="0"/>
                    </a:p>
                  </a:txBody>
                  <a:tcPr/>
                </a:tc>
                <a:tc>
                  <a:txBody>
                    <a:bodyPr/>
                    <a:lstStyle/>
                    <a:p>
                      <a:pPr algn="ctr"/>
                      <a:r>
                        <a:rPr lang="en-US" dirty="0" smtClean="0"/>
                        <a:t>Function</a:t>
                      </a:r>
                      <a:endParaRPr lang="en-US" dirty="0"/>
                    </a:p>
                  </a:txBody>
                  <a:tcPr/>
                </a:tc>
                <a:tc>
                  <a:txBody>
                    <a:bodyPr/>
                    <a:lstStyle/>
                    <a:p>
                      <a:pPr algn="ctr"/>
                      <a:r>
                        <a:rPr lang="en-US" dirty="0" smtClean="0"/>
                        <a:t>Test Input</a:t>
                      </a:r>
                      <a:endParaRPr lang="en-US" dirty="0"/>
                    </a:p>
                  </a:txBody>
                  <a:tcPr/>
                </a:tc>
                <a:tc>
                  <a:txBody>
                    <a:bodyPr/>
                    <a:lstStyle/>
                    <a:p>
                      <a:pPr algn="ctr"/>
                      <a:r>
                        <a:rPr lang="en-US" dirty="0" smtClean="0"/>
                        <a:t>Expected Result</a:t>
                      </a:r>
                      <a:endParaRPr lang="en-US" dirty="0"/>
                    </a:p>
                  </a:txBody>
                  <a:tcPr/>
                </a:tc>
                <a:tc>
                  <a:txBody>
                    <a:bodyPr/>
                    <a:lstStyle/>
                    <a:p>
                      <a:pPr algn="ctr"/>
                      <a:r>
                        <a:rPr lang="en-US" dirty="0" smtClean="0"/>
                        <a:t>Status</a:t>
                      </a:r>
                      <a:endParaRPr lang="en-US" dirty="0"/>
                    </a:p>
                  </a:txBody>
                  <a:tcPr/>
                </a:tc>
                <a:extLst>
                  <a:ext uri="{0D108BD9-81ED-4DB2-BD59-A6C34878D82A}">
                    <a16:rowId xmlns:a16="http://schemas.microsoft.com/office/drawing/2014/main" val="2134335312"/>
                  </a:ext>
                </a:extLst>
              </a:tr>
              <a:tr h="370840">
                <a:tc>
                  <a:txBody>
                    <a:bodyPr/>
                    <a:lstStyle/>
                    <a:p>
                      <a:pPr algn="ctr"/>
                      <a:r>
                        <a:rPr lang="en-US" dirty="0" smtClean="0"/>
                        <a:t>TC01</a:t>
                      </a:r>
                      <a:endParaRPr lang="en-US" dirty="0"/>
                    </a:p>
                  </a:txBody>
                  <a:tcPr/>
                </a:tc>
                <a:tc>
                  <a:txBody>
                    <a:bodyPr/>
                    <a:lstStyle/>
                    <a:p>
                      <a:pPr algn="ctr"/>
                      <a:r>
                        <a:rPr lang="en-US" dirty="0" smtClean="0"/>
                        <a:t>Admin </a:t>
                      </a:r>
                      <a:r>
                        <a:rPr lang="en-US" baseline="0" dirty="0" smtClean="0"/>
                        <a:t>Log In</a:t>
                      </a:r>
                      <a:endParaRPr lang="en-US" dirty="0"/>
                    </a:p>
                  </a:txBody>
                  <a:tcPr/>
                </a:tc>
                <a:tc>
                  <a:txBody>
                    <a:bodyPr/>
                    <a:lstStyle/>
                    <a:p>
                      <a:pPr algn="ctr"/>
                      <a:r>
                        <a:rPr lang="en-US" dirty="0" smtClean="0"/>
                        <a:t>Correct Admin</a:t>
                      </a:r>
                      <a:r>
                        <a:rPr lang="en-US" baseline="0" dirty="0" smtClean="0"/>
                        <a:t> Username And Password </a:t>
                      </a:r>
                      <a:endParaRPr lang="en-US" dirty="0"/>
                    </a:p>
                  </a:txBody>
                  <a:tcPr/>
                </a:tc>
                <a:tc>
                  <a:txBody>
                    <a:bodyPr/>
                    <a:lstStyle/>
                    <a:p>
                      <a:pPr algn="ctr"/>
                      <a:r>
                        <a:rPr lang="en-US" dirty="0" smtClean="0"/>
                        <a:t>Logging Into The Dashboard</a:t>
                      </a:r>
                      <a:endParaRPr lang="en-US" dirty="0"/>
                    </a:p>
                  </a:txBody>
                  <a:tcPr/>
                </a:tc>
                <a:tc>
                  <a:txBody>
                    <a:bodyPr/>
                    <a:lstStyle/>
                    <a:p>
                      <a:pPr algn="ctr"/>
                      <a:r>
                        <a:rPr lang="en-US" dirty="0" smtClean="0">
                          <a:solidFill>
                            <a:srgbClr val="00B050"/>
                          </a:solidFill>
                        </a:rPr>
                        <a:t>Pass</a:t>
                      </a:r>
                      <a:endParaRPr lang="en-US" dirty="0">
                        <a:solidFill>
                          <a:srgbClr val="00B050"/>
                        </a:solidFill>
                      </a:endParaRPr>
                    </a:p>
                  </a:txBody>
                  <a:tcPr/>
                </a:tc>
                <a:extLst>
                  <a:ext uri="{0D108BD9-81ED-4DB2-BD59-A6C34878D82A}">
                    <a16:rowId xmlns:a16="http://schemas.microsoft.com/office/drawing/2014/main" val="3277190788"/>
                  </a:ext>
                </a:extLst>
              </a:tr>
              <a:tr h="370840">
                <a:tc>
                  <a:txBody>
                    <a:bodyPr/>
                    <a:lstStyle/>
                    <a:p>
                      <a:pPr algn="ctr"/>
                      <a:r>
                        <a:rPr lang="en-US" dirty="0" smtClean="0"/>
                        <a:t>TC02</a:t>
                      </a:r>
                      <a:endParaRPr lang="en-US" dirty="0"/>
                    </a:p>
                  </a:txBody>
                  <a:tcPr/>
                </a:tc>
                <a:tc>
                  <a:txBody>
                    <a:bodyPr/>
                    <a:lstStyle/>
                    <a:p>
                      <a:pPr algn="ctr"/>
                      <a:r>
                        <a:rPr lang="en-US" dirty="0" smtClean="0"/>
                        <a:t>Adding a</a:t>
                      </a:r>
                      <a:r>
                        <a:rPr lang="en-US" baseline="0" dirty="0" smtClean="0"/>
                        <a:t> New Product</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Product Name, Price, Category,</a:t>
                      </a:r>
                      <a:r>
                        <a:rPr lang="en-US" baseline="0" dirty="0" smtClean="0"/>
                        <a:t> Quantity</a:t>
                      </a:r>
                      <a:endParaRPr lang="en-US" dirty="0" smtClean="0"/>
                    </a:p>
                    <a:p>
                      <a:pPr algn="ctr"/>
                      <a:endParaRPr lang="en-US" dirty="0"/>
                    </a:p>
                  </a:txBody>
                  <a:tcPr/>
                </a:tc>
                <a:tc>
                  <a:txBody>
                    <a:bodyPr/>
                    <a:lstStyle/>
                    <a:p>
                      <a:pPr algn="ctr"/>
                      <a:r>
                        <a:rPr lang="en-US" dirty="0" smtClean="0"/>
                        <a:t>Product Appears Instantly</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00B050"/>
                          </a:solidFill>
                        </a:rPr>
                        <a:t>Pass</a:t>
                      </a:r>
                    </a:p>
                  </a:txBody>
                  <a:tcPr/>
                </a:tc>
                <a:extLst>
                  <a:ext uri="{0D108BD9-81ED-4DB2-BD59-A6C34878D82A}">
                    <a16:rowId xmlns:a16="http://schemas.microsoft.com/office/drawing/2014/main" val="385524303"/>
                  </a:ext>
                </a:extLst>
              </a:tr>
              <a:tr h="370840">
                <a:tc>
                  <a:txBody>
                    <a:bodyPr/>
                    <a:lstStyle/>
                    <a:p>
                      <a:pPr algn="ctr"/>
                      <a:r>
                        <a:rPr lang="en-US" dirty="0" smtClean="0"/>
                        <a:t>TC03</a:t>
                      </a:r>
                      <a:endParaRPr lang="en-US" dirty="0"/>
                    </a:p>
                  </a:txBody>
                  <a:tcPr/>
                </a:tc>
                <a:tc>
                  <a:txBody>
                    <a:bodyPr/>
                    <a:lstStyle/>
                    <a:p>
                      <a:pPr algn="ctr"/>
                      <a:r>
                        <a:rPr lang="en-US" dirty="0" smtClean="0"/>
                        <a:t>Searching For a Product</a:t>
                      </a:r>
                      <a:endParaRPr lang="en-US" dirty="0"/>
                    </a:p>
                  </a:txBody>
                  <a:tcPr/>
                </a:tc>
                <a:tc>
                  <a:txBody>
                    <a:bodyPr/>
                    <a:lstStyle/>
                    <a:p>
                      <a:pPr algn="ctr"/>
                      <a:r>
                        <a:rPr lang="en-US" dirty="0" smtClean="0"/>
                        <a:t>Product Name</a:t>
                      </a:r>
                      <a:endParaRPr lang="en-US" dirty="0"/>
                    </a:p>
                  </a:txBody>
                  <a:tcPr/>
                </a:tc>
                <a:tc>
                  <a:txBody>
                    <a:bodyPr/>
                    <a:lstStyle/>
                    <a:p>
                      <a:pPr algn="ctr"/>
                      <a:r>
                        <a:rPr lang="en-US" dirty="0" smtClean="0"/>
                        <a:t>Only The Searched For Product Appears In The</a:t>
                      </a:r>
                      <a:r>
                        <a:rPr lang="en-US" baseline="0" dirty="0" smtClean="0"/>
                        <a:t> Results</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00B050"/>
                          </a:solidFill>
                        </a:rPr>
                        <a:t>Pass</a:t>
                      </a:r>
                    </a:p>
                  </a:txBody>
                  <a:tcPr/>
                </a:tc>
                <a:extLst>
                  <a:ext uri="{0D108BD9-81ED-4DB2-BD59-A6C34878D82A}">
                    <a16:rowId xmlns:a16="http://schemas.microsoft.com/office/drawing/2014/main" val="264221795"/>
                  </a:ext>
                </a:extLst>
              </a:tr>
              <a:tr h="370840">
                <a:tc>
                  <a:txBody>
                    <a:bodyPr/>
                    <a:lstStyle/>
                    <a:p>
                      <a:pPr algn="ctr"/>
                      <a:r>
                        <a:rPr lang="en-US" dirty="0" smtClean="0"/>
                        <a:t>TC04</a:t>
                      </a:r>
                      <a:endParaRPr lang="en-US" dirty="0"/>
                    </a:p>
                  </a:txBody>
                  <a:tcPr/>
                </a:tc>
                <a:tc>
                  <a:txBody>
                    <a:bodyPr/>
                    <a:lstStyle/>
                    <a:p>
                      <a:pPr algn="ctr"/>
                      <a:r>
                        <a:rPr lang="en-US" dirty="0" smtClean="0"/>
                        <a:t>Adding An</a:t>
                      </a:r>
                      <a:r>
                        <a:rPr lang="en-US" baseline="0" dirty="0" smtClean="0"/>
                        <a:t> Item To Cart</a:t>
                      </a:r>
                      <a:endParaRPr lang="en-US" dirty="0"/>
                    </a:p>
                  </a:txBody>
                  <a:tcPr/>
                </a:tc>
                <a:tc>
                  <a:txBody>
                    <a:bodyPr/>
                    <a:lstStyle/>
                    <a:p>
                      <a:pPr algn="ctr"/>
                      <a:r>
                        <a:rPr lang="en-US" dirty="0" smtClean="0"/>
                        <a:t>Choosing a Product</a:t>
                      </a:r>
                      <a:r>
                        <a:rPr lang="en-US" baseline="0" dirty="0" smtClean="0"/>
                        <a:t> &amp; Quantity</a:t>
                      </a:r>
                      <a:endParaRPr lang="en-US" dirty="0"/>
                    </a:p>
                  </a:txBody>
                  <a:tcPr/>
                </a:tc>
                <a:tc>
                  <a:txBody>
                    <a:bodyPr/>
                    <a:lstStyle/>
                    <a:p>
                      <a:pPr algn="ctr"/>
                      <a:r>
                        <a:rPr lang="en-US" dirty="0" smtClean="0"/>
                        <a:t>Product Appears In the Cart Instantly</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00B050"/>
                          </a:solidFill>
                        </a:rPr>
                        <a:t>Pass</a:t>
                      </a:r>
                    </a:p>
                  </a:txBody>
                  <a:tcPr/>
                </a:tc>
                <a:extLst>
                  <a:ext uri="{0D108BD9-81ED-4DB2-BD59-A6C34878D82A}">
                    <a16:rowId xmlns:a16="http://schemas.microsoft.com/office/drawing/2014/main" val="3525047517"/>
                  </a:ext>
                </a:extLst>
              </a:tr>
              <a:tr h="370840">
                <a:tc>
                  <a:txBody>
                    <a:bodyPr/>
                    <a:lstStyle/>
                    <a:p>
                      <a:pPr algn="ctr"/>
                      <a:r>
                        <a:rPr lang="en-US" dirty="0" smtClean="0"/>
                        <a:t>TC05</a:t>
                      </a:r>
                      <a:endParaRPr lang="en-US" dirty="0"/>
                    </a:p>
                  </a:txBody>
                  <a:tcPr/>
                </a:tc>
                <a:tc>
                  <a:txBody>
                    <a:bodyPr/>
                    <a:lstStyle/>
                    <a:p>
                      <a:pPr algn="ctr"/>
                      <a:r>
                        <a:rPr lang="en-US" dirty="0" smtClean="0"/>
                        <a:t>Adding An Item To Wish List</a:t>
                      </a:r>
                      <a:endParaRPr lang="en-US" dirty="0"/>
                    </a:p>
                  </a:txBody>
                  <a:tcPr/>
                </a:tc>
                <a:tc>
                  <a:txBody>
                    <a:bodyPr/>
                    <a:lstStyle/>
                    <a:p>
                      <a:pPr algn="ctr"/>
                      <a:r>
                        <a:rPr lang="en-US" dirty="0" smtClean="0"/>
                        <a:t>Clicking</a:t>
                      </a:r>
                      <a:r>
                        <a:rPr lang="en-US" baseline="0" dirty="0" smtClean="0"/>
                        <a:t> The Heart Icon</a:t>
                      </a:r>
                      <a:endParaRPr lang="en-US" dirty="0"/>
                    </a:p>
                  </a:txBody>
                  <a:tcPr/>
                </a:tc>
                <a:tc>
                  <a:txBody>
                    <a:bodyPr/>
                    <a:lstStyle/>
                    <a:p>
                      <a:pPr algn="ctr"/>
                      <a:r>
                        <a:rPr lang="en-US" dirty="0" smtClean="0"/>
                        <a:t>Product Appears In the</a:t>
                      </a:r>
                      <a:r>
                        <a:rPr lang="en-US" baseline="0" dirty="0" smtClean="0"/>
                        <a:t> Wish List Instantly</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00B050"/>
                          </a:solidFill>
                        </a:rPr>
                        <a:t>Pass</a:t>
                      </a:r>
                    </a:p>
                  </a:txBody>
                  <a:tcPr/>
                </a:tc>
                <a:extLst>
                  <a:ext uri="{0D108BD9-81ED-4DB2-BD59-A6C34878D82A}">
                    <a16:rowId xmlns:a16="http://schemas.microsoft.com/office/drawing/2014/main" val="1233112188"/>
                  </a:ext>
                </a:extLst>
              </a:tr>
            </a:tbl>
          </a:graphicData>
        </a:graphic>
      </p:graphicFrame>
      <p:sp>
        <p:nvSpPr>
          <p:cNvPr id="3" name="TextBox 2"/>
          <p:cNvSpPr txBox="1"/>
          <p:nvPr/>
        </p:nvSpPr>
        <p:spPr>
          <a:xfrm>
            <a:off x="3984380" y="262793"/>
            <a:ext cx="4185138"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rtl="1"/>
            <a:r>
              <a:rPr lang="en-US" sz="3600" b="1" dirty="0" smtClean="0"/>
              <a:t>Test Cases Table</a:t>
            </a:r>
            <a:endParaRPr lang="en-US" sz="3600" b="1" dirty="0"/>
          </a:p>
        </p:txBody>
      </p:sp>
    </p:spTree>
    <p:extLst>
      <p:ext uri="{BB962C8B-B14F-4D97-AF65-F5344CB8AC3E}">
        <p14:creationId xmlns:p14="http://schemas.microsoft.com/office/powerpoint/2010/main" val="66236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29263" y="208547"/>
            <a:ext cx="5213684" cy="80210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smtClean="0">
                <a:solidFill>
                  <a:schemeClr val="tx1"/>
                </a:solidFill>
              </a:rPr>
              <a:t>Entity Relationship Diagram</a:t>
            </a:r>
            <a:endParaRPr lang="en-US" sz="3200" b="1" dirty="0">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325" y="1009653"/>
            <a:ext cx="11038349" cy="5705472"/>
          </a:xfrm>
          <a:prstGeom prst="rect">
            <a:avLst/>
          </a:prstGeom>
        </p:spPr>
      </p:pic>
    </p:spTree>
    <p:extLst>
      <p:ext uri="{BB962C8B-B14F-4D97-AF65-F5344CB8AC3E}">
        <p14:creationId xmlns:p14="http://schemas.microsoft.com/office/powerpoint/2010/main" val="11084856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29263" y="208547"/>
            <a:ext cx="5213684" cy="80210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smtClean="0">
                <a:solidFill>
                  <a:schemeClr val="tx1"/>
                </a:solidFill>
              </a:rPr>
              <a:t>Class Diagram</a:t>
            </a:r>
            <a:endParaRPr lang="en-US" sz="3200" b="1" dirty="0">
              <a:solidFill>
                <a:schemeClr val="tx1"/>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120" y="1184843"/>
            <a:ext cx="11497970" cy="5425507"/>
          </a:xfrm>
          <a:prstGeom prst="rect">
            <a:avLst/>
          </a:prstGeom>
        </p:spPr>
      </p:pic>
    </p:spTree>
    <p:extLst>
      <p:ext uri="{BB962C8B-B14F-4D97-AF65-F5344CB8AC3E}">
        <p14:creationId xmlns:p14="http://schemas.microsoft.com/office/powerpoint/2010/main" val="17950360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45367" y="237122"/>
            <a:ext cx="4181476" cy="80210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smtClean="0">
                <a:solidFill>
                  <a:schemeClr val="tx1"/>
                </a:solidFill>
              </a:rPr>
              <a:t>Sequence </a:t>
            </a:r>
            <a:r>
              <a:rPr lang="en-US" sz="3200" b="1" dirty="0" smtClean="0">
                <a:solidFill>
                  <a:schemeClr val="tx1"/>
                </a:solidFill>
              </a:rPr>
              <a:t>Diagram</a:t>
            </a:r>
            <a:endParaRPr lang="en-US" sz="3200" b="1" dirty="0">
              <a:solidFill>
                <a:schemeClr val="tx1"/>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480" y="1193391"/>
            <a:ext cx="10001250" cy="5423718"/>
          </a:xfrm>
          <a:prstGeom prst="rect">
            <a:avLst/>
          </a:prstGeom>
        </p:spPr>
      </p:pic>
    </p:spTree>
    <p:extLst>
      <p:ext uri="{BB962C8B-B14F-4D97-AF65-F5344CB8AC3E}">
        <p14:creationId xmlns:p14="http://schemas.microsoft.com/office/powerpoint/2010/main" val="27666710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45367" y="237122"/>
            <a:ext cx="4181476" cy="80210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smtClean="0">
                <a:solidFill>
                  <a:schemeClr val="tx1"/>
                </a:solidFill>
              </a:rPr>
              <a:t>Activity </a:t>
            </a:r>
            <a:r>
              <a:rPr lang="en-US" sz="3200" b="1" dirty="0" smtClean="0">
                <a:solidFill>
                  <a:schemeClr val="tx1"/>
                </a:solidFill>
              </a:rPr>
              <a:t>Diagram</a:t>
            </a:r>
            <a:endParaRPr lang="en-US" sz="3200" b="1" dirty="0">
              <a:solidFill>
                <a:schemeClr val="tx1"/>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733550"/>
            <a:ext cx="12192000" cy="3810001"/>
          </a:xfrm>
          <a:prstGeom prst="rect">
            <a:avLst/>
          </a:prstGeom>
        </p:spPr>
      </p:pic>
    </p:spTree>
    <p:extLst>
      <p:ext uri="{BB962C8B-B14F-4D97-AF65-F5344CB8AC3E}">
        <p14:creationId xmlns:p14="http://schemas.microsoft.com/office/powerpoint/2010/main" val="30176182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02247" y="181169"/>
            <a:ext cx="3275212" cy="613610"/>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600" b="1" dirty="0" smtClean="0"/>
              <a:t>Site Map</a:t>
            </a:r>
            <a:endParaRPr lang="en-US" sz="3600" b="1" dirty="0"/>
          </a:p>
        </p:txBody>
      </p:sp>
      <p:sp>
        <p:nvSpPr>
          <p:cNvPr id="3" name="Rounded Rectangle 2"/>
          <p:cNvSpPr/>
          <p:nvPr/>
        </p:nvSpPr>
        <p:spPr>
          <a:xfrm>
            <a:off x="4908884" y="1459832"/>
            <a:ext cx="2101516" cy="56147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smtClean="0"/>
              <a:t>Home</a:t>
            </a:r>
            <a:endParaRPr lang="en-US" b="1" dirty="0"/>
          </a:p>
        </p:txBody>
      </p:sp>
      <p:cxnSp>
        <p:nvCxnSpPr>
          <p:cNvPr id="5" name="Straight Connector 4"/>
          <p:cNvCxnSpPr>
            <a:stCxn id="3" idx="2"/>
          </p:cNvCxnSpPr>
          <p:nvPr/>
        </p:nvCxnSpPr>
        <p:spPr>
          <a:xfrm>
            <a:off x="5959642" y="2021306"/>
            <a:ext cx="0" cy="385011"/>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flipH="1">
            <a:off x="1251286" y="2422358"/>
            <a:ext cx="3882188"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H="1">
            <a:off x="1251284" y="2422358"/>
            <a:ext cx="1" cy="721895"/>
          </a:xfrm>
          <a:prstGeom prst="line">
            <a:avLst/>
          </a:prstGeom>
        </p:spPr>
        <p:style>
          <a:lnRef idx="1">
            <a:schemeClr val="dk1"/>
          </a:lnRef>
          <a:fillRef idx="0">
            <a:schemeClr val="dk1"/>
          </a:fillRef>
          <a:effectRef idx="0">
            <a:schemeClr val="dk1"/>
          </a:effectRef>
          <a:fontRef idx="minor">
            <a:schemeClr val="tx1"/>
          </a:fontRef>
        </p:style>
      </p:cxnSp>
      <p:sp>
        <p:nvSpPr>
          <p:cNvPr id="11" name="Rounded Rectangle 10"/>
          <p:cNvSpPr/>
          <p:nvPr/>
        </p:nvSpPr>
        <p:spPr>
          <a:xfrm>
            <a:off x="529389" y="3160295"/>
            <a:ext cx="1652337" cy="67376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b="1" dirty="0" smtClean="0"/>
              <a:t>Registration/ Login</a:t>
            </a:r>
            <a:endParaRPr lang="en-US" b="1" dirty="0"/>
          </a:p>
        </p:txBody>
      </p:sp>
      <p:cxnSp>
        <p:nvCxnSpPr>
          <p:cNvPr id="13" name="Straight Connector 12"/>
          <p:cNvCxnSpPr>
            <a:stCxn id="11" idx="2"/>
            <a:endCxn id="14" idx="0"/>
          </p:cNvCxnSpPr>
          <p:nvPr/>
        </p:nvCxnSpPr>
        <p:spPr>
          <a:xfrm flipH="1">
            <a:off x="1355557" y="3834063"/>
            <a:ext cx="1" cy="441158"/>
          </a:xfrm>
          <a:prstGeom prst="line">
            <a:avLst/>
          </a:prstGeom>
        </p:spPr>
        <p:style>
          <a:lnRef idx="1">
            <a:schemeClr val="dk1"/>
          </a:lnRef>
          <a:fillRef idx="0">
            <a:schemeClr val="dk1"/>
          </a:fillRef>
          <a:effectRef idx="0">
            <a:schemeClr val="dk1"/>
          </a:effectRef>
          <a:fontRef idx="minor">
            <a:schemeClr val="tx1"/>
          </a:fontRef>
        </p:style>
      </p:cxnSp>
      <p:sp>
        <p:nvSpPr>
          <p:cNvPr id="14" name="Rounded Rectangle 13"/>
          <p:cNvSpPr/>
          <p:nvPr/>
        </p:nvSpPr>
        <p:spPr>
          <a:xfrm>
            <a:off x="673767" y="4275221"/>
            <a:ext cx="1363579" cy="49730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t>Sign Up</a:t>
            </a:r>
            <a:endParaRPr lang="en-US" sz="2000" dirty="0"/>
          </a:p>
        </p:txBody>
      </p:sp>
      <p:cxnSp>
        <p:nvCxnSpPr>
          <p:cNvPr id="16" name="Straight Connector 15"/>
          <p:cNvCxnSpPr>
            <a:stCxn id="14" idx="2"/>
            <a:endCxn id="17" idx="0"/>
          </p:cNvCxnSpPr>
          <p:nvPr/>
        </p:nvCxnSpPr>
        <p:spPr>
          <a:xfrm>
            <a:off x="1355557" y="4772527"/>
            <a:ext cx="0" cy="521368"/>
          </a:xfrm>
          <a:prstGeom prst="line">
            <a:avLst/>
          </a:prstGeom>
        </p:spPr>
        <p:style>
          <a:lnRef idx="1">
            <a:schemeClr val="dk1"/>
          </a:lnRef>
          <a:fillRef idx="0">
            <a:schemeClr val="dk1"/>
          </a:fillRef>
          <a:effectRef idx="0">
            <a:schemeClr val="dk1"/>
          </a:effectRef>
          <a:fontRef idx="minor">
            <a:schemeClr val="tx1"/>
          </a:fontRef>
        </p:style>
      </p:cxnSp>
      <p:sp>
        <p:nvSpPr>
          <p:cNvPr id="17" name="Rounded Rectangle 16"/>
          <p:cNvSpPr/>
          <p:nvPr/>
        </p:nvSpPr>
        <p:spPr>
          <a:xfrm>
            <a:off x="673767" y="5293895"/>
            <a:ext cx="1363579" cy="48126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t>Sign in</a:t>
            </a:r>
            <a:endParaRPr lang="en-US" sz="2000" dirty="0"/>
          </a:p>
        </p:txBody>
      </p:sp>
      <p:cxnSp>
        <p:nvCxnSpPr>
          <p:cNvPr id="21" name="Straight Connector 20"/>
          <p:cNvCxnSpPr/>
          <p:nvPr/>
        </p:nvCxnSpPr>
        <p:spPr>
          <a:xfrm>
            <a:off x="5133474" y="2422358"/>
            <a:ext cx="1812758"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a:off x="6946232" y="2438401"/>
            <a:ext cx="16042" cy="529389"/>
          </a:xfrm>
          <a:prstGeom prst="line">
            <a:avLst/>
          </a:prstGeom>
        </p:spPr>
        <p:style>
          <a:lnRef idx="1">
            <a:schemeClr val="dk1"/>
          </a:lnRef>
          <a:fillRef idx="0">
            <a:schemeClr val="dk1"/>
          </a:fillRef>
          <a:effectRef idx="0">
            <a:schemeClr val="dk1"/>
          </a:effectRef>
          <a:fontRef idx="minor">
            <a:schemeClr val="tx1"/>
          </a:fontRef>
        </p:style>
      </p:cxnSp>
      <p:sp>
        <p:nvSpPr>
          <p:cNvPr id="24" name="Rounded Rectangle 23"/>
          <p:cNvSpPr/>
          <p:nvPr/>
        </p:nvSpPr>
        <p:spPr>
          <a:xfrm>
            <a:off x="5873416" y="2983832"/>
            <a:ext cx="2145632" cy="56147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b="1" dirty="0" smtClean="0"/>
              <a:t>Dashboard(After Login)</a:t>
            </a:r>
            <a:endParaRPr lang="en-US" b="1" dirty="0"/>
          </a:p>
        </p:txBody>
      </p:sp>
      <p:cxnSp>
        <p:nvCxnSpPr>
          <p:cNvPr id="28" name="Straight Connector 27"/>
          <p:cNvCxnSpPr/>
          <p:nvPr/>
        </p:nvCxnSpPr>
        <p:spPr>
          <a:xfrm>
            <a:off x="6400800" y="3545305"/>
            <a:ext cx="6515" cy="2273966"/>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a:xfrm>
            <a:off x="6416842" y="3834063"/>
            <a:ext cx="545432" cy="0"/>
          </a:xfrm>
          <a:prstGeom prst="line">
            <a:avLst/>
          </a:prstGeom>
        </p:spPr>
        <p:style>
          <a:lnRef idx="1">
            <a:schemeClr val="dk1"/>
          </a:lnRef>
          <a:fillRef idx="0">
            <a:schemeClr val="dk1"/>
          </a:fillRef>
          <a:effectRef idx="0">
            <a:schemeClr val="dk1"/>
          </a:effectRef>
          <a:fontRef idx="minor">
            <a:schemeClr val="tx1"/>
          </a:fontRef>
        </p:style>
      </p:cxnSp>
      <p:sp>
        <p:nvSpPr>
          <p:cNvPr id="32" name="Rounded Rectangle 31"/>
          <p:cNvSpPr/>
          <p:nvPr/>
        </p:nvSpPr>
        <p:spPr>
          <a:xfrm>
            <a:off x="6946232" y="3673642"/>
            <a:ext cx="1588168" cy="56147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View Clinics</a:t>
            </a:r>
            <a:endParaRPr lang="en-US" dirty="0"/>
          </a:p>
        </p:txBody>
      </p:sp>
      <p:sp>
        <p:nvSpPr>
          <p:cNvPr id="34" name="Rounded Rectangle 33"/>
          <p:cNvSpPr/>
          <p:nvPr/>
        </p:nvSpPr>
        <p:spPr>
          <a:xfrm>
            <a:off x="6833938" y="4275221"/>
            <a:ext cx="1844842" cy="49730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Book Appointments</a:t>
            </a:r>
            <a:endParaRPr lang="en-US" dirty="0"/>
          </a:p>
        </p:txBody>
      </p:sp>
      <p:cxnSp>
        <p:nvCxnSpPr>
          <p:cNvPr id="36" name="Straight Connector 35"/>
          <p:cNvCxnSpPr>
            <a:endCxn id="34" idx="1"/>
          </p:cNvCxnSpPr>
          <p:nvPr/>
        </p:nvCxnSpPr>
        <p:spPr>
          <a:xfrm>
            <a:off x="6416842" y="4523874"/>
            <a:ext cx="417096" cy="0"/>
          </a:xfrm>
          <a:prstGeom prst="line">
            <a:avLst/>
          </a:prstGeom>
        </p:spPr>
        <p:style>
          <a:lnRef idx="1">
            <a:schemeClr val="dk1"/>
          </a:lnRef>
          <a:fillRef idx="0">
            <a:schemeClr val="dk1"/>
          </a:fillRef>
          <a:effectRef idx="0">
            <a:schemeClr val="dk1"/>
          </a:effectRef>
          <a:fontRef idx="minor">
            <a:schemeClr val="tx1"/>
          </a:fontRef>
        </p:style>
      </p:cxnSp>
      <p:sp>
        <p:nvSpPr>
          <p:cNvPr id="37" name="Rounded Rectangle 36"/>
          <p:cNvSpPr/>
          <p:nvPr/>
        </p:nvSpPr>
        <p:spPr>
          <a:xfrm>
            <a:off x="6833937" y="4828674"/>
            <a:ext cx="1844842" cy="60157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View Appointment</a:t>
            </a:r>
            <a:endParaRPr lang="en-US" dirty="0"/>
          </a:p>
        </p:txBody>
      </p:sp>
      <p:sp>
        <p:nvSpPr>
          <p:cNvPr id="38" name="Rounded Rectangle 37"/>
          <p:cNvSpPr/>
          <p:nvPr/>
        </p:nvSpPr>
        <p:spPr>
          <a:xfrm>
            <a:off x="6833936" y="5486400"/>
            <a:ext cx="2265947" cy="6737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Cancel/Reschedule</a:t>
            </a:r>
            <a:endParaRPr lang="en-US" dirty="0"/>
          </a:p>
        </p:txBody>
      </p:sp>
      <p:cxnSp>
        <p:nvCxnSpPr>
          <p:cNvPr id="41" name="Straight Connector 40"/>
          <p:cNvCxnSpPr>
            <a:endCxn id="37" idx="1"/>
          </p:cNvCxnSpPr>
          <p:nvPr/>
        </p:nvCxnSpPr>
        <p:spPr>
          <a:xfrm>
            <a:off x="6416842" y="5129463"/>
            <a:ext cx="417095" cy="1"/>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a:endCxn id="38" idx="1"/>
          </p:cNvCxnSpPr>
          <p:nvPr/>
        </p:nvCxnSpPr>
        <p:spPr>
          <a:xfrm>
            <a:off x="6416842" y="5819271"/>
            <a:ext cx="417094" cy="4013"/>
          </a:xfrm>
          <a:prstGeom prst="line">
            <a:avLst/>
          </a:prstGeom>
        </p:spPr>
        <p:style>
          <a:lnRef idx="1">
            <a:schemeClr val="dk1"/>
          </a:lnRef>
          <a:fillRef idx="0">
            <a:schemeClr val="dk1"/>
          </a:fillRef>
          <a:effectRef idx="0">
            <a:schemeClr val="dk1"/>
          </a:effectRef>
          <a:fontRef idx="minor">
            <a:schemeClr val="tx1"/>
          </a:fontRef>
        </p:style>
      </p:cxnSp>
      <p:sp>
        <p:nvSpPr>
          <p:cNvPr id="47" name="Rounded Rectangle 46"/>
          <p:cNvSpPr/>
          <p:nvPr/>
        </p:nvSpPr>
        <p:spPr>
          <a:xfrm>
            <a:off x="4908884" y="3834063"/>
            <a:ext cx="1275348" cy="4010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b="1" dirty="0" smtClean="0"/>
              <a:t>Pet Profile</a:t>
            </a:r>
            <a:endParaRPr lang="en-US" b="1" dirty="0"/>
          </a:p>
        </p:txBody>
      </p:sp>
      <p:cxnSp>
        <p:nvCxnSpPr>
          <p:cNvPr id="49" name="Straight Connector 48"/>
          <p:cNvCxnSpPr>
            <a:endCxn id="47" idx="3"/>
          </p:cNvCxnSpPr>
          <p:nvPr/>
        </p:nvCxnSpPr>
        <p:spPr>
          <a:xfrm flipH="1" flipV="1">
            <a:off x="6184232" y="4034590"/>
            <a:ext cx="216568" cy="8021"/>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p:cNvCxnSpPr>
            <a:stCxn id="47" idx="2"/>
          </p:cNvCxnSpPr>
          <p:nvPr/>
        </p:nvCxnSpPr>
        <p:spPr>
          <a:xfrm>
            <a:off x="5546558" y="4235116"/>
            <a:ext cx="44114" cy="2622883"/>
          </a:xfrm>
          <a:prstGeom prst="line">
            <a:avLst/>
          </a:prstGeom>
        </p:spPr>
        <p:style>
          <a:lnRef idx="1">
            <a:schemeClr val="dk1"/>
          </a:lnRef>
          <a:fillRef idx="0">
            <a:schemeClr val="dk1"/>
          </a:fillRef>
          <a:effectRef idx="0">
            <a:schemeClr val="dk1"/>
          </a:effectRef>
          <a:fontRef idx="minor">
            <a:schemeClr val="tx1"/>
          </a:fontRef>
        </p:style>
      </p:cxnSp>
      <p:sp>
        <p:nvSpPr>
          <p:cNvPr id="53" name="Rounded Rectangle 52"/>
          <p:cNvSpPr/>
          <p:nvPr/>
        </p:nvSpPr>
        <p:spPr>
          <a:xfrm>
            <a:off x="4229099" y="4395536"/>
            <a:ext cx="1032712" cy="37699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Add Pet</a:t>
            </a:r>
            <a:endParaRPr lang="en-US" dirty="0"/>
          </a:p>
        </p:txBody>
      </p:sp>
      <p:sp>
        <p:nvSpPr>
          <p:cNvPr id="54" name="Rounded Rectangle 53"/>
          <p:cNvSpPr/>
          <p:nvPr/>
        </p:nvSpPr>
        <p:spPr>
          <a:xfrm>
            <a:off x="4229099" y="4844715"/>
            <a:ext cx="1032712" cy="38501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Edit Pet</a:t>
            </a:r>
            <a:endParaRPr lang="en-US" dirty="0"/>
          </a:p>
        </p:txBody>
      </p:sp>
      <p:sp>
        <p:nvSpPr>
          <p:cNvPr id="55" name="Rounded Rectangle 54"/>
          <p:cNvSpPr/>
          <p:nvPr/>
        </p:nvSpPr>
        <p:spPr>
          <a:xfrm>
            <a:off x="4260179" y="5301914"/>
            <a:ext cx="1032712" cy="3449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View Pet</a:t>
            </a:r>
            <a:endParaRPr lang="en-US" dirty="0"/>
          </a:p>
        </p:txBody>
      </p:sp>
      <p:sp>
        <p:nvSpPr>
          <p:cNvPr id="56" name="Rounded Rectangle 55"/>
          <p:cNvSpPr/>
          <p:nvPr/>
        </p:nvSpPr>
        <p:spPr>
          <a:xfrm>
            <a:off x="2759742" y="5644812"/>
            <a:ext cx="1427747" cy="35694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smtClean="0"/>
              <a:t>Add Reminder</a:t>
            </a:r>
            <a:endParaRPr lang="en-US" sz="1600" dirty="0"/>
          </a:p>
        </p:txBody>
      </p:sp>
      <p:sp>
        <p:nvSpPr>
          <p:cNvPr id="57" name="Rounded Rectangle 56"/>
          <p:cNvSpPr/>
          <p:nvPr/>
        </p:nvSpPr>
        <p:spPr>
          <a:xfrm>
            <a:off x="2737185" y="6058903"/>
            <a:ext cx="1427747" cy="30079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smtClean="0"/>
              <a:t>Edit Reminder</a:t>
            </a:r>
            <a:endParaRPr lang="en-US" sz="1600" dirty="0"/>
          </a:p>
        </p:txBody>
      </p:sp>
      <p:sp>
        <p:nvSpPr>
          <p:cNvPr id="58" name="Rounded Rectangle 57"/>
          <p:cNvSpPr/>
          <p:nvPr/>
        </p:nvSpPr>
        <p:spPr>
          <a:xfrm>
            <a:off x="2745206" y="6416842"/>
            <a:ext cx="1427747" cy="4411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smtClean="0"/>
              <a:t>Delete Reminder</a:t>
            </a:r>
            <a:endParaRPr lang="en-US" sz="1600" dirty="0"/>
          </a:p>
        </p:txBody>
      </p:sp>
      <p:cxnSp>
        <p:nvCxnSpPr>
          <p:cNvPr id="61" name="Straight Connector 60"/>
          <p:cNvCxnSpPr>
            <a:endCxn id="53" idx="3"/>
          </p:cNvCxnSpPr>
          <p:nvPr/>
        </p:nvCxnSpPr>
        <p:spPr>
          <a:xfrm flipH="1">
            <a:off x="5261811" y="4584031"/>
            <a:ext cx="284747" cy="1"/>
          </a:xfrm>
          <a:prstGeom prst="line">
            <a:avLst/>
          </a:prstGeom>
        </p:spPr>
        <p:style>
          <a:lnRef idx="1">
            <a:schemeClr val="dk1"/>
          </a:lnRef>
          <a:fillRef idx="0">
            <a:schemeClr val="dk1"/>
          </a:fillRef>
          <a:effectRef idx="0">
            <a:schemeClr val="dk1"/>
          </a:effectRef>
          <a:fontRef idx="minor">
            <a:schemeClr val="tx1"/>
          </a:fontRef>
        </p:style>
      </p:cxnSp>
      <p:cxnSp>
        <p:nvCxnSpPr>
          <p:cNvPr id="63" name="Straight Connector 62"/>
          <p:cNvCxnSpPr>
            <a:endCxn id="54" idx="3"/>
          </p:cNvCxnSpPr>
          <p:nvPr/>
        </p:nvCxnSpPr>
        <p:spPr>
          <a:xfrm flipH="1">
            <a:off x="5261811" y="5037220"/>
            <a:ext cx="328861" cy="1"/>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p:cNvCxnSpPr>
            <a:endCxn id="55" idx="3"/>
          </p:cNvCxnSpPr>
          <p:nvPr/>
        </p:nvCxnSpPr>
        <p:spPr>
          <a:xfrm flipH="1">
            <a:off x="5292891" y="5474366"/>
            <a:ext cx="297781" cy="1"/>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p:cNvCxnSpPr>
            <a:endCxn id="56" idx="3"/>
          </p:cNvCxnSpPr>
          <p:nvPr/>
        </p:nvCxnSpPr>
        <p:spPr>
          <a:xfrm flipH="1">
            <a:off x="4187489" y="5819271"/>
            <a:ext cx="1403183" cy="4014"/>
          </a:xfrm>
          <a:prstGeom prst="line">
            <a:avLst/>
          </a:prstGeom>
        </p:spPr>
        <p:style>
          <a:lnRef idx="1">
            <a:schemeClr val="dk1"/>
          </a:lnRef>
          <a:fillRef idx="0">
            <a:schemeClr val="dk1"/>
          </a:fillRef>
          <a:effectRef idx="0">
            <a:schemeClr val="dk1"/>
          </a:effectRef>
          <a:fontRef idx="minor">
            <a:schemeClr val="tx1"/>
          </a:fontRef>
        </p:style>
      </p:cxnSp>
      <p:cxnSp>
        <p:nvCxnSpPr>
          <p:cNvPr id="71" name="Straight Connector 70"/>
          <p:cNvCxnSpPr>
            <a:endCxn id="57" idx="3"/>
          </p:cNvCxnSpPr>
          <p:nvPr/>
        </p:nvCxnSpPr>
        <p:spPr>
          <a:xfrm flipH="1" flipV="1">
            <a:off x="4164932" y="6209299"/>
            <a:ext cx="1434766" cy="13036"/>
          </a:xfrm>
          <a:prstGeom prst="line">
            <a:avLst/>
          </a:prstGeom>
        </p:spPr>
        <p:style>
          <a:lnRef idx="1">
            <a:schemeClr val="dk1"/>
          </a:lnRef>
          <a:fillRef idx="0">
            <a:schemeClr val="dk1"/>
          </a:fillRef>
          <a:effectRef idx="0">
            <a:schemeClr val="dk1"/>
          </a:effectRef>
          <a:fontRef idx="minor">
            <a:schemeClr val="tx1"/>
          </a:fontRef>
        </p:style>
      </p:cxnSp>
      <p:cxnSp>
        <p:nvCxnSpPr>
          <p:cNvPr id="74" name="Straight Connector 73"/>
          <p:cNvCxnSpPr>
            <a:stCxn id="58" idx="3"/>
          </p:cNvCxnSpPr>
          <p:nvPr/>
        </p:nvCxnSpPr>
        <p:spPr>
          <a:xfrm flipV="1">
            <a:off x="4172953" y="6637420"/>
            <a:ext cx="1426745" cy="1"/>
          </a:xfrm>
          <a:prstGeom prst="line">
            <a:avLst/>
          </a:prstGeom>
        </p:spPr>
        <p:style>
          <a:lnRef idx="1">
            <a:schemeClr val="dk1"/>
          </a:lnRef>
          <a:fillRef idx="0">
            <a:schemeClr val="dk1"/>
          </a:fillRef>
          <a:effectRef idx="0">
            <a:schemeClr val="dk1"/>
          </a:effectRef>
          <a:fontRef idx="minor">
            <a:schemeClr val="tx1"/>
          </a:fontRef>
        </p:style>
      </p:cxnSp>
      <p:cxnSp>
        <p:nvCxnSpPr>
          <p:cNvPr id="83" name="Straight Connector 82"/>
          <p:cNvCxnSpPr/>
          <p:nvPr/>
        </p:nvCxnSpPr>
        <p:spPr>
          <a:xfrm>
            <a:off x="6946232" y="2422358"/>
            <a:ext cx="4507831" cy="16043"/>
          </a:xfrm>
          <a:prstGeom prst="line">
            <a:avLst/>
          </a:prstGeom>
        </p:spPr>
        <p:style>
          <a:lnRef idx="1">
            <a:schemeClr val="dk1"/>
          </a:lnRef>
          <a:fillRef idx="0">
            <a:schemeClr val="dk1"/>
          </a:fillRef>
          <a:effectRef idx="0">
            <a:schemeClr val="dk1"/>
          </a:effectRef>
          <a:fontRef idx="minor">
            <a:schemeClr val="tx1"/>
          </a:fontRef>
        </p:style>
      </p:cxnSp>
      <p:cxnSp>
        <p:nvCxnSpPr>
          <p:cNvPr id="85" name="Straight Connector 84"/>
          <p:cNvCxnSpPr/>
          <p:nvPr/>
        </p:nvCxnSpPr>
        <p:spPr>
          <a:xfrm>
            <a:off x="11454063" y="2438401"/>
            <a:ext cx="0" cy="521368"/>
          </a:xfrm>
          <a:prstGeom prst="line">
            <a:avLst/>
          </a:prstGeom>
        </p:spPr>
        <p:style>
          <a:lnRef idx="1">
            <a:schemeClr val="dk1"/>
          </a:lnRef>
          <a:fillRef idx="0">
            <a:schemeClr val="dk1"/>
          </a:fillRef>
          <a:effectRef idx="0">
            <a:schemeClr val="dk1"/>
          </a:effectRef>
          <a:fontRef idx="minor">
            <a:schemeClr val="tx1"/>
          </a:fontRef>
        </p:style>
      </p:cxnSp>
      <p:sp>
        <p:nvSpPr>
          <p:cNvPr id="89" name="Rounded Rectangle 88"/>
          <p:cNvSpPr/>
          <p:nvPr/>
        </p:nvSpPr>
        <p:spPr>
          <a:xfrm>
            <a:off x="10668000" y="2959769"/>
            <a:ext cx="1267326" cy="40907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b="1" dirty="0" smtClean="0"/>
              <a:t>Shop</a:t>
            </a:r>
            <a:endParaRPr lang="en-US" b="1" dirty="0"/>
          </a:p>
        </p:txBody>
      </p:sp>
      <p:cxnSp>
        <p:nvCxnSpPr>
          <p:cNvPr id="91" name="Straight Connector 90"/>
          <p:cNvCxnSpPr/>
          <p:nvPr/>
        </p:nvCxnSpPr>
        <p:spPr>
          <a:xfrm>
            <a:off x="11525250" y="3385190"/>
            <a:ext cx="16042" cy="2149336"/>
          </a:xfrm>
          <a:prstGeom prst="line">
            <a:avLst/>
          </a:prstGeom>
        </p:spPr>
        <p:style>
          <a:lnRef idx="1">
            <a:schemeClr val="dk1"/>
          </a:lnRef>
          <a:fillRef idx="0">
            <a:schemeClr val="dk1"/>
          </a:fillRef>
          <a:effectRef idx="0">
            <a:schemeClr val="dk1"/>
          </a:effectRef>
          <a:fontRef idx="minor">
            <a:schemeClr val="tx1"/>
          </a:fontRef>
        </p:style>
      </p:cxnSp>
      <p:sp>
        <p:nvSpPr>
          <p:cNvPr id="92" name="Rounded Rectangle 91"/>
          <p:cNvSpPr/>
          <p:nvPr/>
        </p:nvSpPr>
        <p:spPr>
          <a:xfrm>
            <a:off x="9157037" y="3589422"/>
            <a:ext cx="1819778" cy="37297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Browse Products</a:t>
            </a:r>
            <a:endParaRPr lang="en-US" dirty="0"/>
          </a:p>
        </p:txBody>
      </p:sp>
      <p:sp>
        <p:nvSpPr>
          <p:cNvPr id="93" name="Rounded Rectangle 92"/>
          <p:cNvSpPr/>
          <p:nvPr/>
        </p:nvSpPr>
        <p:spPr>
          <a:xfrm>
            <a:off x="9208170" y="4034590"/>
            <a:ext cx="1795713" cy="32284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Product Details</a:t>
            </a:r>
            <a:endParaRPr lang="en-US" dirty="0"/>
          </a:p>
        </p:txBody>
      </p:sp>
      <p:sp>
        <p:nvSpPr>
          <p:cNvPr id="94" name="Rounded Rectangle 93"/>
          <p:cNvSpPr/>
          <p:nvPr/>
        </p:nvSpPr>
        <p:spPr>
          <a:xfrm>
            <a:off x="9208169" y="4469732"/>
            <a:ext cx="1795713" cy="29477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Add To Cart</a:t>
            </a:r>
            <a:endParaRPr lang="en-US" dirty="0"/>
          </a:p>
        </p:txBody>
      </p:sp>
      <p:sp>
        <p:nvSpPr>
          <p:cNvPr id="95" name="Rounded Rectangle 94"/>
          <p:cNvSpPr/>
          <p:nvPr/>
        </p:nvSpPr>
        <p:spPr>
          <a:xfrm>
            <a:off x="9208170" y="4908884"/>
            <a:ext cx="1795713" cy="3208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View Cart</a:t>
            </a:r>
            <a:endParaRPr lang="en-US" dirty="0"/>
          </a:p>
        </p:txBody>
      </p:sp>
      <p:sp>
        <p:nvSpPr>
          <p:cNvPr id="96" name="Rounded Rectangle 95"/>
          <p:cNvSpPr/>
          <p:nvPr/>
        </p:nvSpPr>
        <p:spPr>
          <a:xfrm>
            <a:off x="9208169" y="5315955"/>
            <a:ext cx="1777667" cy="4020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Checkout</a:t>
            </a:r>
            <a:endParaRPr lang="en-US" dirty="0"/>
          </a:p>
        </p:txBody>
      </p:sp>
      <p:cxnSp>
        <p:nvCxnSpPr>
          <p:cNvPr id="98" name="Straight Connector 97"/>
          <p:cNvCxnSpPr>
            <a:stCxn id="92" idx="3"/>
          </p:cNvCxnSpPr>
          <p:nvPr/>
        </p:nvCxnSpPr>
        <p:spPr>
          <a:xfrm>
            <a:off x="10976815" y="3775911"/>
            <a:ext cx="556456" cy="2004"/>
          </a:xfrm>
          <a:prstGeom prst="line">
            <a:avLst/>
          </a:prstGeom>
        </p:spPr>
        <p:style>
          <a:lnRef idx="1">
            <a:schemeClr val="dk1"/>
          </a:lnRef>
          <a:fillRef idx="0">
            <a:schemeClr val="dk1"/>
          </a:fillRef>
          <a:effectRef idx="0">
            <a:schemeClr val="dk1"/>
          </a:effectRef>
          <a:fontRef idx="minor">
            <a:schemeClr val="tx1"/>
          </a:fontRef>
        </p:style>
      </p:cxnSp>
      <p:cxnSp>
        <p:nvCxnSpPr>
          <p:cNvPr id="103" name="Straight Connector 102"/>
          <p:cNvCxnSpPr>
            <a:stCxn id="93" idx="3"/>
          </p:cNvCxnSpPr>
          <p:nvPr/>
        </p:nvCxnSpPr>
        <p:spPr>
          <a:xfrm flipV="1">
            <a:off x="11003883" y="4186988"/>
            <a:ext cx="537409" cy="9025"/>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Connector 104"/>
          <p:cNvCxnSpPr>
            <a:stCxn id="94" idx="3"/>
          </p:cNvCxnSpPr>
          <p:nvPr/>
        </p:nvCxnSpPr>
        <p:spPr>
          <a:xfrm flipV="1">
            <a:off x="11003882" y="4614111"/>
            <a:ext cx="537410" cy="3009"/>
          </a:xfrm>
          <a:prstGeom prst="line">
            <a:avLst/>
          </a:prstGeom>
        </p:spPr>
        <p:style>
          <a:lnRef idx="1">
            <a:schemeClr val="dk1"/>
          </a:lnRef>
          <a:fillRef idx="0">
            <a:schemeClr val="dk1"/>
          </a:fillRef>
          <a:effectRef idx="0">
            <a:schemeClr val="dk1"/>
          </a:effectRef>
          <a:fontRef idx="minor">
            <a:schemeClr val="tx1"/>
          </a:fontRef>
        </p:style>
      </p:cxnSp>
      <p:cxnSp>
        <p:nvCxnSpPr>
          <p:cNvPr id="107" name="Straight Connector 106"/>
          <p:cNvCxnSpPr>
            <a:stCxn id="95" idx="3"/>
          </p:cNvCxnSpPr>
          <p:nvPr/>
        </p:nvCxnSpPr>
        <p:spPr>
          <a:xfrm>
            <a:off x="11003883" y="5069305"/>
            <a:ext cx="510341" cy="11533"/>
          </a:xfrm>
          <a:prstGeom prst="line">
            <a:avLst/>
          </a:prstGeom>
        </p:spPr>
        <p:style>
          <a:lnRef idx="1">
            <a:schemeClr val="dk1"/>
          </a:lnRef>
          <a:fillRef idx="0">
            <a:schemeClr val="dk1"/>
          </a:fillRef>
          <a:effectRef idx="0">
            <a:schemeClr val="dk1"/>
          </a:effectRef>
          <a:fontRef idx="minor">
            <a:schemeClr val="tx1"/>
          </a:fontRef>
        </p:style>
      </p:cxnSp>
      <p:cxnSp>
        <p:nvCxnSpPr>
          <p:cNvPr id="109" name="Straight Connector 108"/>
          <p:cNvCxnSpPr>
            <a:stCxn id="96" idx="3"/>
          </p:cNvCxnSpPr>
          <p:nvPr/>
        </p:nvCxnSpPr>
        <p:spPr>
          <a:xfrm flipV="1">
            <a:off x="10985836" y="5516980"/>
            <a:ext cx="547435" cy="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824231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868615" y="536331"/>
            <a:ext cx="3560885"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rtl="1"/>
            <a:r>
              <a:rPr lang="ar-SY" sz="3600" b="1" dirty="0" smtClean="0"/>
              <a:t>فكرة المشروع</a:t>
            </a:r>
            <a:endParaRPr lang="en-US" sz="3600" b="1" dirty="0"/>
          </a:p>
        </p:txBody>
      </p:sp>
      <p:sp>
        <p:nvSpPr>
          <p:cNvPr id="3" name="TextBox 2"/>
          <p:cNvSpPr txBox="1"/>
          <p:nvPr/>
        </p:nvSpPr>
        <p:spPr>
          <a:xfrm>
            <a:off x="1881553" y="2215661"/>
            <a:ext cx="8097716" cy="1938992"/>
          </a:xfrm>
          <a:prstGeom prst="rect">
            <a:avLst/>
          </a:prstGeom>
          <a:noFill/>
        </p:spPr>
        <p:txBody>
          <a:bodyPr wrap="square" rtlCol="0">
            <a:spAutoFit/>
          </a:bodyPr>
          <a:lstStyle/>
          <a:p>
            <a:pPr algn="ctr" rtl="1"/>
            <a:r>
              <a:rPr lang="ar-SY" sz="2400" dirty="0" smtClean="0"/>
              <a:t>تطبيق الرعاية بالحيوانات الأليفة هو أداة تهدف لتحقيق الرعاية الشاملة لحيوانك الأليف عن طريق تأمين جميع مستلزماته من المتجر الموجود داخل التطبيق ومتابعة جميع المواعيد المهمة الخاصة بحيوانك الاليف كاللقاحات والأدوية الدورية ومواعيد الطعام كما ان التطبيق يمكنك من حجز موعد لحيوانك الأليف عند العيادة البيطرية المفضلة لك.</a:t>
            </a:r>
            <a:endParaRPr lang="en-US" sz="2400" dirty="0"/>
          </a:p>
        </p:txBody>
      </p:sp>
    </p:spTree>
    <p:extLst>
      <p:ext uri="{BB962C8B-B14F-4D97-AF65-F5344CB8AC3E}">
        <p14:creationId xmlns:p14="http://schemas.microsoft.com/office/powerpoint/2010/main" val="16656597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467826" y="300940"/>
            <a:ext cx="3125165" cy="64818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b="1" dirty="0" smtClean="0"/>
              <a:t>Sequence diagram</a:t>
            </a:r>
            <a:endParaRPr lang="en-US" sz="28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4558" y="1181100"/>
            <a:ext cx="10009692" cy="5295900"/>
          </a:xfrm>
          <a:prstGeom prst="rect">
            <a:avLst/>
          </a:prstGeom>
        </p:spPr>
      </p:pic>
    </p:spTree>
    <p:extLst>
      <p:ext uri="{BB962C8B-B14F-4D97-AF65-F5344CB8AC3E}">
        <p14:creationId xmlns:p14="http://schemas.microsoft.com/office/powerpoint/2010/main" val="4215293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3385039" y="202224"/>
            <a:ext cx="5020407" cy="63304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600" b="1" dirty="0" smtClean="0">
                <a:solidFill>
                  <a:schemeClr val="tx1"/>
                </a:solidFill>
              </a:rPr>
              <a:t>Class Diagram</a:t>
            </a:r>
            <a:endParaRPr lang="en-US" sz="3600" b="1" dirty="0">
              <a:solidFill>
                <a:schemeClr val="tx1"/>
              </a:solidFill>
            </a:endParaRPr>
          </a:p>
        </p:txBody>
      </p:sp>
      <p:sp>
        <p:nvSpPr>
          <p:cNvPr id="3" name="Rectangle 2"/>
          <p:cNvSpPr/>
          <p:nvPr/>
        </p:nvSpPr>
        <p:spPr>
          <a:xfrm>
            <a:off x="705852" y="1010652"/>
            <a:ext cx="2261473" cy="2743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731956" y="1010652"/>
            <a:ext cx="2357724" cy="3096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8823158" y="1010652"/>
            <a:ext cx="2406316" cy="2743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05852" y="4251158"/>
            <a:ext cx="2261473" cy="26068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24168" y="4251158"/>
            <a:ext cx="2342148" cy="26068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823158" y="4251158"/>
            <a:ext cx="2406316" cy="26068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705852" y="1443789"/>
            <a:ext cx="22614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05852" y="2903621"/>
            <a:ext cx="22614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724168" y="1443789"/>
            <a:ext cx="23421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39744" y="3225220"/>
            <a:ext cx="23421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823158" y="1443789"/>
            <a:ext cx="2406316"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8784218" y="2947598"/>
            <a:ext cx="2406316"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a:off x="705852" y="4668253"/>
            <a:ext cx="2261473"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p:nvPr/>
        </p:nvCxnSpPr>
        <p:spPr>
          <a:xfrm>
            <a:off x="705852" y="6144126"/>
            <a:ext cx="2261473" cy="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4724168" y="4668253"/>
            <a:ext cx="2342148" cy="0"/>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a:xfrm>
            <a:off x="4724168" y="6115540"/>
            <a:ext cx="2342148" cy="0"/>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8823158" y="4668253"/>
            <a:ext cx="2406316" cy="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8823158" y="6144126"/>
            <a:ext cx="2406316" cy="0"/>
          </a:xfrm>
          <a:prstGeom prst="line">
            <a:avLst/>
          </a:prstGeom>
        </p:spPr>
        <p:style>
          <a:lnRef idx="1">
            <a:schemeClr val="dk1"/>
          </a:lnRef>
          <a:fillRef idx="0">
            <a:schemeClr val="dk1"/>
          </a:fillRef>
          <a:effectRef idx="0">
            <a:schemeClr val="dk1"/>
          </a:effectRef>
          <a:fontRef idx="minor">
            <a:schemeClr val="tx1"/>
          </a:fontRef>
        </p:style>
      </p:cxnSp>
      <p:sp>
        <p:nvSpPr>
          <p:cNvPr id="35" name="TextBox 34"/>
          <p:cNvSpPr txBox="1"/>
          <p:nvPr/>
        </p:nvSpPr>
        <p:spPr>
          <a:xfrm>
            <a:off x="729217" y="1001614"/>
            <a:ext cx="2261473" cy="461665"/>
          </a:xfrm>
          <a:prstGeom prst="rect">
            <a:avLst/>
          </a:prstGeom>
          <a:noFill/>
        </p:spPr>
        <p:txBody>
          <a:bodyPr wrap="square" rtlCol="0">
            <a:spAutoFit/>
          </a:bodyPr>
          <a:lstStyle/>
          <a:p>
            <a:pPr algn="ctr"/>
            <a:r>
              <a:rPr lang="en-US" sz="2400" b="1" dirty="0" smtClean="0"/>
              <a:t>User</a:t>
            </a:r>
            <a:endParaRPr lang="en-US" b="1" dirty="0"/>
          </a:p>
        </p:txBody>
      </p:sp>
      <p:sp>
        <p:nvSpPr>
          <p:cNvPr id="36" name="TextBox 35"/>
          <p:cNvSpPr txBox="1"/>
          <p:nvPr/>
        </p:nvSpPr>
        <p:spPr>
          <a:xfrm>
            <a:off x="705852" y="1456746"/>
            <a:ext cx="2261473" cy="1200329"/>
          </a:xfrm>
          <a:prstGeom prst="rect">
            <a:avLst/>
          </a:prstGeom>
          <a:noFill/>
        </p:spPr>
        <p:txBody>
          <a:bodyPr wrap="square" rtlCol="0">
            <a:spAutoFit/>
          </a:bodyPr>
          <a:lstStyle/>
          <a:p>
            <a:r>
              <a:rPr lang="en-US" dirty="0" smtClean="0"/>
              <a:t>-Userid</a:t>
            </a:r>
          </a:p>
          <a:p>
            <a:r>
              <a:rPr lang="en-US" dirty="0" smtClean="0"/>
              <a:t>-Name</a:t>
            </a:r>
          </a:p>
          <a:p>
            <a:r>
              <a:rPr lang="en-US" dirty="0" smtClean="0"/>
              <a:t>-Email</a:t>
            </a:r>
          </a:p>
          <a:p>
            <a:r>
              <a:rPr lang="en-US" dirty="0" smtClean="0"/>
              <a:t>-Password</a:t>
            </a:r>
          </a:p>
        </p:txBody>
      </p:sp>
      <p:sp>
        <p:nvSpPr>
          <p:cNvPr id="37" name="TextBox 36"/>
          <p:cNvSpPr txBox="1"/>
          <p:nvPr/>
        </p:nvSpPr>
        <p:spPr>
          <a:xfrm>
            <a:off x="705851" y="2936646"/>
            <a:ext cx="2261473" cy="861774"/>
          </a:xfrm>
          <a:prstGeom prst="rect">
            <a:avLst/>
          </a:prstGeom>
          <a:noFill/>
        </p:spPr>
        <p:txBody>
          <a:bodyPr wrap="square" rtlCol="0">
            <a:spAutoFit/>
          </a:bodyPr>
          <a:lstStyle/>
          <a:p>
            <a:r>
              <a:rPr lang="en-US" sz="1600" dirty="0" smtClean="0"/>
              <a:t>+register()</a:t>
            </a:r>
          </a:p>
          <a:p>
            <a:r>
              <a:rPr lang="en-US" sz="1600" dirty="0" smtClean="0"/>
              <a:t>+login()</a:t>
            </a:r>
          </a:p>
          <a:p>
            <a:r>
              <a:rPr lang="en-US" sz="1600" dirty="0" smtClean="0"/>
              <a:t>+logout()</a:t>
            </a:r>
            <a:endParaRPr lang="en-US" sz="1600" dirty="0"/>
          </a:p>
        </p:txBody>
      </p:sp>
      <p:sp>
        <p:nvSpPr>
          <p:cNvPr id="38" name="TextBox 37"/>
          <p:cNvSpPr txBox="1"/>
          <p:nvPr/>
        </p:nvSpPr>
        <p:spPr>
          <a:xfrm>
            <a:off x="4800483" y="1010652"/>
            <a:ext cx="2189516" cy="461665"/>
          </a:xfrm>
          <a:prstGeom prst="rect">
            <a:avLst/>
          </a:prstGeom>
          <a:noFill/>
        </p:spPr>
        <p:txBody>
          <a:bodyPr wrap="square" rtlCol="0">
            <a:spAutoFit/>
          </a:bodyPr>
          <a:lstStyle/>
          <a:p>
            <a:pPr algn="ctr"/>
            <a:r>
              <a:rPr lang="en-US" sz="2400" b="1" dirty="0" smtClean="0"/>
              <a:t>Pet Profile</a:t>
            </a:r>
            <a:endParaRPr lang="en-US" sz="2400" b="1" dirty="0"/>
          </a:p>
        </p:txBody>
      </p:sp>
      <p:sp>
        <p:nvSpPr>
          <p:cNvPr id="39" name="TextBox 38"/>
          <p:cNvSpPr txBox="1"/>
          <p:nvPr/>
        </p:nvSpPr>
        <p:spPr>
          <a:xfrm>
            <a:off x="4739744" y="1392746"/>
            <a:ext cx="2342148" cy="1846659"/>
          </a:xfrm>
          <a:prstGeom prst="rect">
            <a:avLst/>
          </a:prstGeom>
          <a:noFill/>
        </p:spPr>
        <p:txBody>
          <a:bodyPr wrap="square" rtlCol="0">
            <a:spAutoFit/>
          </a:bodyPr>
          <a:lstStyle/>
          <a:p>
            <a:r>
              <a:rPr lang="en-US" sz="1600" dirty="0" smtClean="0"/>
              <a:t>-Petid</a:t>
            </a:r>
          </a:p>
          <a:p>
            <a:r>
              <a:rPr lang="en-US" sz="1600" dirty="0" smtClean="0"/>
              <a:t>-Name</a:t>
            </a:r>
          </a:p>
          <a:p>
            <a:r>
              <a:rPr lang="en-US" sz="1600" dirty="0" smtClean="0"/>
              <a:t>-Species</a:t>
            </a:r>
          </a:p>
          <a:p>
            <a:r>
              <a:rPr lang="en-US" sz="1600" dirty="0" smtClean="0"/>
              <a:t>-Breed</a:t>
            </a:r>
          </a:p>
          <a:p>
            <a:r>
              <a:rPr lang="en-US" sz="1600" dirty="0" smtClean="0"/>
              <a:t>-age</a:t>
            </a:r>
          </a:p>
          <a:p>
            <a:r>
              <a:rPr lang="en-US" sz="1600" dirty="0" smtClean="0"/>
              <a:t>-gender</a:t>
            </a:r>
          </a:p>
          <a:p>
            <a:r>
              <a:rPr lang="en-US" sz="1600" dirty="0" smtClean="0"/>
              <a:t>-ownerid</a:t>
            </a:r>
            <a:endParaRPr lang="en-US" sz="1600" dirty="0"/>
          </a:p>
        </p:txBody>
      </p:sp>
      <p:sp>
        <p:nvSpPr>
          <p:cNvPr id="40" name="TextBox 39"/>
          <p:cNvSpPr txBox="1"/>
          <p:nvPr/>
        </p:nvSpPr>
        <p:spPr>
          <a:xfrm>
            <a:off x="4739744" y="3209414"/>
            <a:ext cx="2365512" cy="1477328"/>
          </a:xfrm>
          <a:prstGeom prst="rect">
            <a:avLst/>
          </a:prstGeom>
          <a:noFill/>
        </p:spPr>
        <p:txBody>
          <a:bodyPr wrap="square" rtlCol="0">
            <a:spAutoFit/>
          </a:bodyPr>
          <a:lstStyle/>
          <a:p>
            <a:r>
              <a:rPr lang="en-US" sz="1400" dirty="0" smtClean="0"/>
              <a:t>+AddPet()</a:t>
            </a:r>
          </a:p>
          <a:p>
            <a:r>
              <a:rPr lang="en-US" sz="1400" dirty="0" smtClean="0"/>
              <a:t>+DeletePet()</a:t>
            </a:r>
          </a:p>
          <a:p>
            <a:r>
              <a:rPr lang="en-US" sz="1400" dirty="0" smtClean="0"/>
              <a:t>+EditPet()</a:t>
            </a:r>
          </a:p>
          <a:p>
            <a:r>
              <a:rPr lang="en-US" sz="1400" dirty="0" smtClean="0"/>
              <a:t>+viewPet()</a:t>
            </a:r>
          </a:p>
          <a:p>
            <a:endParaRPr lang="en-US" sz="1600" dirty="0" smtClean="0"/>
          </a:p>
          <a:p>
            <a:endParaRPr lang="en-US" dirty="0"/>
          </a:p>
        </p:txBody>
      </p:sp>
      <p:sp>
        <p:nvSpPr>
          <p:cNvPr id="41" name="TextBox 40"/>
          <p:cNvSpPr txBox="1"/>
          <p:nvPr/>
        </p:nvSpPr>
        <p:spPr>
          <a:xfrm>
            <a:off x="8823158" y="1010652"/>
            <a:ext cx="2406316" cy="461665"/>
          </a:xfrm>
          <a:prstGeom prst="rect">
            <a:avLst/>
          </a:prstGeom>
          <a:noFill/>
        </p:spPr>
        <p:txBody>
          <a:bodyPr wrap="square" rtlCol="0">
            <a:spAutoFit/>
          </a:bodyPr>
          <a:lstStyle/>
          <a:p>
            <a:pPr algn="ctr"/>
            <a:r>
              <a:rPr lang="en-US" sz="2400" b="1" dirty="0"/>
              <a:t>R</a:t>
            </a:r>
            <a:r>
              <a:rPr lang="en-US" sz="2400" b="1" dirty="0" smtClean="0"/>
              <a:t>eminder</a:t>
            </a:r>
            <a:endParaRPr lang="en-US" b="1" dirty="0"/>
          </a:p>
        </p:txBody>
      </p:sp>
      <p:sp>
        <p:nvSpPr>
          <p:cNvPr id="42" name="TextBox 41"/>
          <p:cNvSpPr txBox="1"/>
          <p:nvPr/>
        </p:nvSpPr>
        <p:spPr>
          <a:xfrm>
            <a:off x="8819265" y="1471294"/>
            <a:ext cx="2406316" cy="1477328"/>
          </a:xfrm>
          <a:prstGeom prst="rect">
            <a:avLst/>
          </a:prstGeom>
          <a:noFill/>
        </p:spPr>
        <p:txBody>
          <a:bodyPr wrap="square" rtlCol="0">
            <a:spAutoFit/>
          </a:bodyPr>
          <a:lstStyle/>
          <a:p>
            <a:r>
              <a:rPr lang="en-US" dirty="0" smtClean="0"/>
              <a:t>-Reminderid</a:t>
            </a:r>
          </a:p>
          <a:p>
            <a:r>
              <a:rPr lang="en-US" dirty="0" smtClean="0"/>
              <a:t>-Petid</a:t>
            </a:r>
          </a:p>
          <a:p>
            <a:r>
              <a:rPr lang="en-US" dirty="0" smtClean="0"/>
              <a:t>-Type</a:t>
            </a:r>
          </a:p>
          <a:p>
            <a:r>
              <a:rPr lang="en-US" dirty="0" smtClean="0"/>
              <a:t>-DateTime</a:t>
            </a:r>
          </a:p>
          <a:p>
            <a:r>
              <a:rPr lang="en-US" dirty="0" smtClean="0"/>
              <a:t>-Notes</a:t>
            </a:r>
            <a:endParaRPr lang="en-US" dirty="0"/>
          </a:p>
        </p:txBody>
      </p:sp>
      <p:sp>
        <p:nvSpPr>
          <p:cNvPr id="43" name="TextBox 42"/>
          <p:cNvSpPr txBox="1"/>
          <p:nvPr/>
        </p:nvSpPr>
        <p:spPr>
          <a:xfrm>
            <a:off x="8784218" y="2903621"/>
            <a:ext cx="2375163" cy="830997"/>
          </a:xfrm>
          <a:prstGeom prst="rect">
            <a:avLst/>
          </a:prstGeom>
          <a:noFill/>
        </p:spPr>
        <p:txBody>
          <a:bodyPr wrap="square" rtlCol="0">
            <a:spAutoFit/>
          </a:bodyPr>
          <a:lstStyle/>
          <a:p>
            <a:r>
              <a:rPr lang="en-US" sz="1600" dirty="0" smtClean="0"/>
              <a:t>+setReminder()</a:t>
            </a:r>
          </a:p>
          <a:p>
            <a:r>
              <a:rPr lang="en-US" sz="1600" dirty="0" smtClean="0"/>
              <a:t>+EditReminder()</a:t>
            </a:r>
          </a:p>
          <a:p>
            <a:r>
              <a:rPr lang="en-US" sz="1600" dirty="0" smtClean="0"/>
              <a:t>+DeleteReminder()</a:t>
            </a:r>
            <a:endParaRPr lang="en-US" sz="1600" dirty="0"/>
          </a:p>
        </p:txBody>
      </p:sp>
      <p:sp>
        <p:nvSpPr>
          <p:cNvPr id="44" name="TextBox 43"/>
          <p:cNvSpPr txBox="1"/>
          <p:nvPr/>
        </p:nvSpPr>
        <p:spPr>
          <a:xfrm>
            <a:off x="705851" y="4251158"/>
            <a:ext cx="2261473" cy="461665"/>
          </a:xfrm>
          <a:prstGeom prst="rect">
            <a:avLst/>
          </a:prstGeom>
          <a:noFill/>
        </p:spPr>
        <p:txBody>
          <a:bodyPr wrap="square" rtlCol="0">
            <a:spAutoFit/>
          </a:bodyPr>
          <a:lstStyle/>
          <a:p>
            <a:pPr algn="ctr"/>
            <a:r>
              <a:rPr lang="en-US" sz="2400" b="1" dirty="0" smtClean="0"/>
              <a:t>Product</a:t>
            </a:r>
            <a:endParaRPr lang="en-US" sz="2400" b="1" dirty="0"/>
          </a:p>
        </p:txBody>
      </p:sp>
      <p:sp>
        <p:nvSpPr>
          <p:cNvPr id="45" name="TextBox 44"/>
          <p:cNvSpPr txBox="1"/>
          <p:nvPr/>
        </p:nvSpPr>
        <p:spPr>
          <a:xfrm>
            <a:off x="705851" y="4668253"/>
            <a:ext cx="2269262" cy="1477328"/>
          </a:xfrm>
          <a:prstGeom prst="rect">
            <a:avLst/>
          </a:prstGeom>
          <a:noFill/>
        </p:spPr>
        <p:txBody>
          <a:bodyPr wrap="square" rtlCol="0">
            <a:spAutoFit/>
          </a:bodyPr>
          <a:lstStyle/>
          <a:p>
            <a:r>
              <a:rPr lang="en-US" dirty="0" smtClean="0"/>
              <a:t>-Productid</a:t>
            </a:r>
          </a:p>
          <a:p>
            <a:r>
              <a:rPr lang="en-US" dirty="0" smtClean="0"/>
              <a:t>-Name</a:t>
            </a:r>
          </a:p>
          <a:p>
            <a:r>
              <a:rPr lang="en-US" dirty="0" smtClean="0"/>
              <a:t>-Description</a:t>
            </a:r>
          </a:p>
          <a:p>
            <a:r>
              <a:rPr lang="en-US" dirty="0" smtClean="0"/>
              <a:t>-Price</a:t>
            </a:r>
          </a:p>
          <a:p>
            <a:r>
              <a:rPr lang="en-US" dirty="0" smtClean="0"/>
              <a:t>-Quantity</a:t>
            </a:r>
            <a:endParaRPr lang="en-US" dirty="0"/>
          </a:p>
        </p:txBody>
      </p:sp>
      <p:sp>
        <p:nvSpPr>
          <p:cNvPr id="46" name="TextBox 45"/>
          <p:cNvSpPr txBox="1"/>
          <p:nvPr/>
        </p:nvSpPr>
        <p:spPr>
          <a:xfrm>
            <a:off x="705851" y="6141621"/>
            <a:ext cx="2261473" cy="369332"/>
          </a:xfrm>
          <a:prstGeom prst="rect">
            <a:avLst/>
          </a:prstGeom>
          <a:noFill/>
        </p:spPr>
        <p:txBody>
          <a:bodyPr wrap="square" rtlCol="0">
            <a:spAutoFit/>
          </a:bodyPr>
          <a:lstStyle/>
          <a:p>
            <a:r>
              <a:rPr lang="en-US" dirty="0" smtClean="0"/>
              <a:t>+viewProduct()</a:t>
            </a:r>
            <a:endParaRPr lang="en-US" dirty="0"/>
          </a:p>
        </p:txBody>
      </p:sp>
      <p:sp>
        <p:nvSpPr>
          <p:cNvPr id="47" name="TextBox 46"/>
          <p:cNvSpPr txBox="1"/>
          <p:nvPr/>
        </p:nvSpPr>
        <p:spPr>
          <a:xfrm>
            <a:off x="4724168" y="4251158"/>
            <a:ext cx="2357724" cy="461665"/>
          </a:xfrm>
          <a:prstGeom prst="rect">
            <a:avLst/>
          </a:prstGeom>
          <a:noFill/>
        </p:spPr>
        <p:txBody>
          <a:bodyPr wrap="square" rtlCol="0">
            <a:spAutoFit/>
          </a:bodyPr>
          <a:lstStyle/>
          <a:p>
            <a:pPr algn="ctr"/>
            <a:r>
              <a:rPr lang="en-US" sz="2400" b="1" dirty="0" smtClean="0"/>
              <a:t>Appointment</a:t>
            </a:r>
            <a:endParaRPr lang="en-US" sz="2400" b="1" dirty="0"/>
          </a:p>
        </p:txBody>
      </p:sp>
      <p:sp>
        <p:nvSpPr>
          <p:cNvPr id="48" name="TextBox 47"/>
          <p:cNvSpPr txBox="1"/>
          <p:nvPr/>
        </p:nvSpPr>
        <p:spPr>
          <a:xfrm>
            <a:off x="4685226" y="4638212"/>
            <a:ext cx="2357725" cy="1477328"/>
          </a:xfrm>
          <a:prstGeom prst="rect">
            <a:avLst/>
          </a:prstGeom>
          <a:noFill/>
        </p:spPr>
        <p:txBody>
          <a:bodyPr wrap="square" rtlCol="0">
            <a:spAutoFit/>
          </a:bodyPr>
          <a:lstStyle/>
          <a:p>
            <a:r>
              <a:rPr lang="en-US" dirty="0" smtClean="0"/>
              <a:t>-Appointmentid</a:t>
            </a:r>
          </a:p>
          <a:p>
            <a:r>
              <a:rPr lang="en-US" dirty="0" smtClean="0"/>
              <a:t>-Petid</a:t>
            </a:r>
          </a:p>
          <a:p>
            <a:r>
              <a:rPr lang="en-US" dirty="0" smtClean="0"/>
              <a:t>-Vetid</a:t>
            </a:r>
          </a:p>
          <a:p>
            <a:r>
              <a:rPr lang="en-US" dirty="0" smtClean="0"/>
              <a:t>-DateTime</a:t>
            </a:r>
          </a:p>
          <a:p>
            <a:r>
              <a:rPr lang="en-US" dirty="0" smtClean="0"/>
              <a:t>-Status</a:t>
            </a:r>
            <a:endParaRPr lang="en-US" dirty="0"/>
          </a:p>
        </p:txBody>
      </p:sp>
      <p:sp>
        <p:nvSpPr>
          <p:cNvPr id="49" name="TextBox 48"/>
          <p:cNvSpPr txBox="1"/>
          <p:nvPr/>
        </p:nvSpPr>
        <p:spPr>
          <a:xfrm>
            <a:off x="4677438" y="6119038"/>
            <a:ext cx="2365513" cy="738664"/>
          </a:xfrm>
          <a:prstGeom prst="rect">
            <a:avLst/>
          </a:prstGeom>
          <a:noFill/>
        </p:spPr>
        <p:txBody>
          <a:bodyPr wrap="square" rtlCol="0">
            <a:spAutoFit/>
          </a:bodyPr>
          <a:lstStyle/>
          <a:p>
            <a:r>
              <a:rPr lang="en-US" sz="1400" dirty="0" smtClean="0"/>
              <a:t>+Book()</a:t>
            </a:r>
          </a:p>
          <a:p>
            <a:r>
              <a:rPr lang="en-US" sz="1400" dirty="0" smtClean="0"/>
              <a:t>+Cancel()</a:t>
            </a:r>
          </a:p>
          <a:p>
            <a:r>
              <a:rPr lang="en-US" sz="1400" dirty="0" smtClean="0"/>
              <a:t>+Reschedule()</a:t>
            </a:r>
            <a:endParaRPr lang="en-US" sz="1400" dirty="0"/>
          </a:p>
        </p:txBody>
      </p:sp>
      <p:sp>
        <p:nvSpPr>
          <p:cNvPr id="50" name="TextBox 49"/>
          <p:cNvSpPr txBox="1"/>
          <p:nvPr/>
        </p:nvSpPr>
        <p:spPr>
          <a:xfrm>
            <a:off x="8819265" y="4251158"/>
            <a:ext cx="2406316" cy="461665"/>
          </a:xfrm>
          <a:prstGeom prst="rect">
            <a:avLst/>
          </a:prstGeom>
          <a:noFill/>
        </p:spPr>
        <p:txBody>
          <a:bodyPr wrap="square" rtlCol="0">
            <a:spAutoFit/>
          </a:bodyPr>
          <a:lstStyle/>
          <a:p>
            <a:pPr algn="ctr"/>
            <a:r>
              <a:rPr lang="en-US" sz="2400" b="1" dirty="0" smtClean="0"/>
              <a:t>Vet</a:t>
            </a:r>
            <a:endParaRPr lang="en-US" sz="2400" b="1" dirty="0"/>
          </a:p>
        </p:txBody>
      </p:sp>
      <p:sp>
        <p:nvSpPr>
          <p:cNvPr id="51" name="TextBox 50"/>
          <p:cNvSpPr txBox="1"/>
          <p:nvPr/>
        </p:nvSpPr>
        <p:spPr>
          <a:xfrm>
            <a:off x="8823158" y="4638212"/>
            <a:ext cx="2402423" cy="1477328"/>
          </a:xfrm>
          <a:prstGeom prst="rect">
            <a:avLst/>
          </a:prstGeom>
          <a:noFill/>
        </p:spPr>
        <p:txBody>
          <a:bodyPr wrap="square" rtlCol="0">
            <a:spAutoFit/>
          </a:bodyPr>
          <a:lstStyle/>
          <a:p>
            <a:r>
              <a:rPr lang="en-US" dirty="0" smtClean="0"/>
              <a:t>-Vetid</a:t>
            </a:r>
          </a:p>
          <a:p>
            <a:r>
              <a:rPr lang="en-US" dirty="0" smtClean="0"/>
              <a:t>-Name</a:t>
            </a:r>
          </a:p>
          <a:p>
            <a:r>
              <a:rPr lang="en-US" dirty="0" smtClean="0"/>
              <a:t>-ClinicName</a:t>
            </a:r>
          </a:p>
          <a:p>
            <a:r>
              <a:rPr lang="en-US" dirty="0" smtClean="0"/>
              <a:t>-Location</a:t>
            </a:r>
          </a:p>
          <a:p>
            <a:r>
              <a:rPr lang="en-US" dirty="0" smtClean="0"/>
              <a:t>-AvailableTime</a:t>
            </a:r>
            <a:endParaRPr lang="en-US" dirty="0"/>
          </a:p>
        </p:txBody>
      </p:sp>
      <p:sp>
        <p:nvSpPr>
          <p:cNvPr id="52" name="TextBox 51"/>
          <p:cNvSpPr txBox="1"/>
          <p:nvPr/>
        </p:nvSpPr>
        <p:spPr>
          <a:xfrm>
            <a:off x="8838734" y="6115540"/>
            <a:ext cx="2394633" cy="646331"/>
          </a:xfrm>
          <a:prstGeom prst="rect">
            <a:avLst/>
          </a:prstGeom>
          <a:noFill/>
        </p:spPr>
        <p:txBody>
          <a:bodyPr wrap="square" rtlCol="0">
            <a:spAutoFit/>
          </a:bodyPr>
          <a:lstStyle/>
          <a:p>
            <a:r>
              <a:rPr lang="en-US" dirty="0" smtClean="0"/>
              <a:t>+viewSchedule()</a:t>
            </a:r>
          </a:p>
          <a:p>
            <a:r>
              <a:rPr lang="en-US" dirty="0" smtClean="0"/>
              <a:t>+UpdateTime()</a:t>
            </a:r>
          </a:p>
        </p:txBody>
      </p:sp>
      <p:cxnSp>
        <p:nvCxnSpPr>
          <p:cNvPr id="56" name="Straight Connector 55"/>
          <p:cNvCxnSpPr>
            <a:stCxn id="45" idx="3"/>
          </p:cNvCxnSpPr>
          <p:nvPr/>
        </p:nvCxnSpPr>
        <p:spPr>
          <a:xfrm>
            <a:off x="2975113" y="5406917"/>
            <a:ext cx="816383" cy="0"/>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H="1" flipV="1">
            <a:off x="3763110" y="2769578"/>
            <a:ext cx="28386" cy="2637339"/>
          </a:xfrm>
          <a:prstGeom prst="line">
            <a:avLst/>
          </a:prstGeom>
        </p:spPr>
        <p:style>
          <a:lnRef idx="1">
            <a:schemeClr val="dk1"/>
          </a:lnRef>
          <a:fillRef idx="0">
            <a:schemeClr val="dk1"/>
          </a:fillRef>
          <a:effectRef idx="0">
            <a:schemeClr val="dk1"/>
          </a:effectRef>
          <a:fontRef idx="minor">
            <a:schemeClr val="tx1"/>
          </a:fontRef>
        </p:style>
      </p:cxnSp>
      <p:cxnSp>
        <p:nvCxnSpPr>
          <p:cNvPr id="63" name="Straight Arrow Connector 62"/>
          <p:cNvCxnSpPr/>
          <p:nvPr/>
        </p:nvCxnSpPr>
        <p:spPr>
          <a:xfrm flipH="1" flipV="1">
            <a:off x="2975113" y="2769577"/>
            <a:ext cx="80219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p:cNvCxnSpPr/>
          <p:nvPr/>
        </p:nvCxnSpPr>
        <p:spPr>
          <a:xfrm>
            <a:off x="7081892" y="5750169"/>
            <a:ext cx="17023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9803423" y="3753852"/>
            <a:ext cx="0" cy="4889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7089680" y="2657075"/>
            <a:ext cx="169453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Elbow Connector 83"/>
          <p:cNvCxnSpPr>
            <a:stCxn id="48" idx="1"/>
            <a:endCxn id="36" idx="3"/>
          </p:cNvCxnSpPr>
          <p:nvPr/>
        </p:nvCxnSpPr>
        <p:spPr>
          <a:xfrm rot="10800000">
            <a:off x="2967326" y="2056912"/>
            <a:ext cx="1717901" cy="3319965"/>
          </a:xfrm>
          <a:prstGeom prst="bentConnector3">
            <a:avLst>
              <a:gd name="adj1" fmla="val 30040"/>
            </a:avLst>
          </a:prstGeom>
          <a:ln>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p:cNvCxnSpPr/>
          <p:nvPr/>
        </p:nvCxnSpPr>
        <p:spPr>
          <a:xfrm flipH="1">
            <a:off x="2990689" y="2445114"/>
            <a:ext cx="174905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76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5432" y="352926"/>
            <a:ext cx="2133600" cy="288757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p:cNvSpPr/>
          <p:nvPr/>
        </p:nvSpPr>
        <p:spPr>
          <a:xfrm>
            <a:off x="3529263" y="208547"/>
            <a:ext cx="5213684" cy="80210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smtClean="0">
                <a:solidFill>
                  <a:schemeClr val="tx1"/>
                </a:solidFill>
              </a:rPr>
              <a:t>Entity Relationship Diagram</a:t>
            </a:r>
            <a:endParaRPr lang="en-US" sz="3200" b="1" dirty="0">
              <a:solidFill>
                <a:schemeClr val="tx1"/>
              </a:solidFill>
            </a:endParaRPr>
          </a:p>
        </p:txBody>
      </p:sp>
      <p:sp>
        <p:nvSpPr>
          <p:cNvPr id="4" name="Rectangle 3"/>
          <p:cNvSpPr/>
          <p:nvPr/>
        </p:nvSpPr>
        <p:spPr>
          <a:xfrm>
            <a:off x="4090737" y="1203158"/>
            <a:ext cx="1973180" cy="263090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tx1"/>
                </a:solidFill>
              </a:ln>
            </a:endParaRPr>
          </a:p>
        </p:txBody>
      </p:sp>
      <p:sp>
        <p:nvSpPr>
          <p:cNvPr id="5" name="Rectangle 4"/>
          <p:cNvSpPr/>
          <p:nvPr/>
        </p:nvSpPr>
        <p:spPr>
          <a:xfrm>
            <a:off x="9304421" y="497304"/>
            <a:ext cx="2358190" cy="231006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dirty="0"/>
          </a:p>
        </p:txBody>
      </p:sp>
      <p:sp>
        <p:nvSpPr>
          <p:cNvPr id="6" name="Rectangle 5"/>
          <p:cNvSpPr/>
          <p:nvPr/>
        </p:nvSpPr>
        <p:spPr>
          <a:xfrm>
            <a:off x="9272337" y="3240505"/>
            <a:ext cx="2342147" cy="235819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p:cNvSpPr/>
          <p:nvPr/>
        </p:nvSpPr>
        <p:spPr>
          <a:xfrm>
            <a:off x="545432" y="3834063"/>
            <a:ext cx="2133600" cy="302393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ysClr val="windowText" lastClr="000000"/>
                </a:solidFill>
              </a:ln>
            </a:endParaRPr>
          </a:p>
        </p:txBody>
      </p:sp>
      <p:sp>
        <p:nvSpPr>
          <p:cNvPr id="8" name="Rectangle 7"/>
          <p:cNvSpPr/>
          <p:nvPr/>
        </p:nvSpPr>
        <p:spPr>
          <a:xfrm>
            <a:off x="3463089" y="4251158"/>
            <a:ext cx="2005264" cy="25908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ysClr val="windowText" lastClr="000000"/>
                </a:solidFill>
              </a:ln>
            </a:endParaRPr>
          </a:p>
        </p:txBody>
      </p:sp>
      <p:sp>
        <p:nvSpPr>
          <p:cNvPr id="9" name="Rectangle 8"/>
          <p:cNvSpPr/>
          <p:nvPr/>
        </p:nvSpPr>
        <p:spPr>
          <a:xfrm>
            <a:off x="6440905" y="1556084"/>
            <a:ext cx="2302042" cy="168442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ysClr val="windowText" lastClr="000000"/>
                </a:solidFill>
              </a:ln>
            </a:endParaRPr>
          </a:p>
        </p:txBody>
      </p:sp>
      <p:cxnSp>
        <p:nvCxnSpPr>
          <p:cNvPr id="11" name="Straight Connector 10"/>
          <p:cNvCxnSpPr/>
          <p:nvPr/>
        </p:nvCxnSpPr>
        <p:spPr>
          <a:xfrm>
            <a:off x="545432" y="850232"/>
            <a:ext cx="213360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4090737" y="1652336"/>
            <a:ext cx="1973180"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9304421" y="882316"/>
            <a:ext cx="2358190"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545432" y="4251158"/>
            <a:ext cx="2133600"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3463089" y="4668253"/>
            <a:ext cx="2005264"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6440905" y="2002179"/>
            <a:ext cx="2302042" cy="0"/>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p:cNvCxnSpPr/>
          <p:nvPr/>
        </p:nvCxnSpPr>
        <p:spPr>
          <a:xfrm>
            <a:off x="9272337" y="3721768"/>
            <a:ext cx="2342147" cy="0"/>
          </a:xfrm>
          <a:prstGeom prst="line">
            <a:avLst/>
          </a:prstGeom>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545432" y="352926"/>
            <a:ext cx="2133600" cy="523220"/>
          </a:xfrm>
          <a:prstGeom prst="rect">
            <a:avLst/>
          </a:prstGeom>
          <a:noFill/>
        </p:spPr>
        <p:txBody>
          <a:bodyPr wrap="square" rtlCol="0">
            <a:spAutoFit/>
          </a:bodyPr>
          <a:lstStyle/>
          <a:p>
            <a:pPr algn="ctr"/>
            <a:r>
              <a:rPr lang="en-US" sz="2800" b="1" dirty="0" smtClean="0"/>
              <a:t>User</a:t>
            </a:r>
            <a:endParaRPr lang="en-US" sz="2400" b="1" dirty="0"/>
          </a:p>
        </p:txBody>
      </p:sp>
      <p:sp>
        <p:nvSpPr>
          <p:cNvPr id="26" name="TextBox 25"/>
          <p:cNvSpPr txBox="1"/>
          <p:nvPr/>
        </p:nvSpPr>
        <p:spPr>
          <a:xfrm>
            <a:off x="4090737" y="1203158"/>
            <a:ext cx="1973180" cy="523220"/>
          </a:xfrm>
          <a:prstGeom prst="rect">
            <a:avLst/>
          </a:prstGeom>
          <a:noFill/>
        </p:spPr>
        <p:txBody>
          <a:bodyPr wrap="square" rtlCol="0">
            <a:spAutoFit/>
          </a:bodyPr>
          <a:lstStyle/>
          <a:p>
            <a:pPr algn="ctr"/>
            <a:r>
              <a:rPr lang="en-US" sz="2800" b="1" dirty="0" smtClean="0"/>
              <a:t>Product</a:t>
            </a:r>
            <a:endParaRPr lang="en-US" sz="2800" b="1" dirty="0"/>
          </a:p>
        </p:txBody>
      </p:sp>
      <p:sp>
        <p:nvSpPr>
          <p:cNvPr id="27" name="TextBox 26"/>
          <p:cNvSpPr txBox="1"/>
          <p:nvPr/>
        </p:nvSpPr>
        <p:spPr>
          <a:xfrm>
            <a:off x="9304421" y="433137"/>
            <a:ext cx="2358190" cy="523220"/>
          </a:xfrm>
          <a:prstGeom prst="rect">
            <a:avLst/>
          </a:prstGeom>
          <a:noFill/>
        </p:spPr>
        <p:txBody>
          <a:bodyPr wrap="square" rtlCol="0">
            <a:spAutoFit/>
          </a:bodyPr>
          <a:lstStyle/>
          <a:p>
            <a:pPr algn="ctr"/>
            <a:r>
              <a:rPr lang="en-US" sz="2800" b="1" dirty="0" smtClean="0"/>
              <a:t>Vet</a:t>
            </a:r>
            <a:endParaRPr lang="en-US" sz="2800" b="1" dirty="0"/>
          </a:p>
        </p:txBody>
      </p:sp>
      <p:sp>
        <p:nvSpPr>
          <p:cNvPr id="28" name="TextBox 27"/>
          <p:cNvSpPr txBox="1"/>
          <p:nvPr/>
        </p:nvSpPr>
        <p:spPr>
          <a:xfrm>
            <a:off x="545432" y="3798275"/>
            <a:ext cx="2133600" cy="523220"/>
          </a:xfrm>
          <a:prstGeom prst="rect">
            <a:avLst/>
          </a:prstGeom>
          <a:noFill/>
        </p:spPr>
        <p:txBody>
          <a:bodyPr wrap="square" rtlCol="0">
            <a:spAutoFit/>
          </a:bodyPr>
          <a:lstStyle/>
          <a:p>
            <a:pPr algn="ctr"/>
            <a:r>
              <a:rPr lang="en-US" sz="2800" b="1" dirty="0" smtClean="0"/>
              <a:t>PetProfile</a:t>
            </a:r>
            <a:endParaRPr lang="en-US" sz="2800" b="1" dirty="0"/>
          </a:p>
        </p:txBody>
      </p:sp>
      <p:sp>
        <p:nvSpPr>
          <p:cNvPr id="29" name="TextBox 28"/>
          <p:cNvSpPr txBox="1"/>
          <p:nvPr/>
        </p:nvSpPr>
        <p:spPr>
          <a:xfrm>
            <a:off x="3463089" y="4224010"/>
            <a:ext cx="2005264" cy="523220"/>
          </a:xfrm>
          <a:prstGeom prst="rect">
            <a:avLst/>
          </a:prstGeom>
          <a:noFill/>
        </p:spPr>
        <p:txBody>
          <a:bodyPr wrap="square" rtlCol="0">
            <a:spAutoFit/>
          </a:bodyPr>
          <a:lstStyle/>
          <a:p>
            <a:pPr algn="ctr"/>
            <a:r>
              <a:rPr lang="en-US" sz="2800" b="1" dirty="0" smtClean="0"/>
              <a:t>Reminder</a:t>
            </a:r>
            <a:endParaRPr lang="en-US" sz="2800" b="1" dirty="0"/>
          </a:p>
        </p:txBody>
      </p:sp>
      <p:sp>
        <p:nvSpPr>
          <p:cNvPr id="30" name="TextBox 29"/>
          <p:cNvSpPr txBox="1"/>
          <p:nvPr/>
        </p:nvSpPr>
        <p:spPr>
          <a:xfrm>
            <a:off x="6440905" y="1478959"/>
            <a:ext cx="2302042" cy="523220"/>
          </a:xfrm>
          <a:prstGeom prst="rect">
            <a:avLst/>
          </a:prstGeom>
          <a:noFill/>
        </p:spPr>
        <p:txBody>
          <a:bodyPr wrap="square" rtlCol="0">
            <a:spAutoFit/>
          </a:bodyPr>
          <a:lstStyle/>
          <a:p>
            <a:pPr algn="ctr"/>
            <a:r>
              <a:rPr lang="en-US" sz="2800" b="1" dirty="0" smtClean="0"/>
              <a:t>Cart</a:t>
            </a:r>
            <a:endParaRPr lang="en-US" sz="2800" b="1" dirty="0"/>
          </a:p>
        </p:txBody>
      </p:sp>
      <p:sp>
        <p:nvSpPr>
          <p:cNvPr id="31" name="TextBox 30"/>
          <p:cNvSpPr txBox="1"/>
          <p:nvPr/>
        </p:nvSpPr>
        <p:spPr>
          <a:xfrm>
            <a:off x="9272337" y="3240505"/>
            <a:ext cx="2342147" cy="523220"/>
          </a:xfrm>
          <a:prstGeom prst="rect">
            <a:avLst/>
          </a:prstGeom>
          <a:noFill/>
        </p:spPr>
        <p:txBody>
          <a:bodyPr wrap="square" rtlCol="0">
            <a:spAutoFit/>
          </a:bodyPr>
          <a:lstStyle/>
          <a:p>
            <a:pPr algn="ctr"/>
            <a:r>
              <a:rPr lang="en-US" sz="2800" b="1" dirty="0" smtClean="0"/>
              <a:t>Appointment</a:t>
            </a:r>
            <a:endParaRPr lang="en-US" sz="2800" b="1" dirty="0"/>
          </a:p>
        </p:txBody>
      </p:sp>
      <p:sp>
        <p:nvSpPr>
          <p:cNvPr id="32" name="TextBox 31"/>
          <p:cNvSpPr txBox="1"/>
          <p:nvPr/>
        </p:nvSpPr>
        <p:spPr>
          <a:xfrm>
            <a:off x="560471" y="863189"/>
            <a:ext cx="2133600" cy="1200329"/>
          </a:xfrm>
          <a:prstGeom prst="rect">
            <a:avLst/>
          </a:prstGeom>
          <a:noFill/>
        </p:spPr>
        <p:txBody>
          <a:bodyPr wrap="square" rtlCol="0">
            <a:spAutoFit/>
          </a:bodyPr>
          <a:lstStyle/>
          <a:p>
            <a:r>
              <a:rPr lang="en-US" dirty="0" smtClean="0"/>
              <a:t>-User_id (PK)</a:t>
            </a:r>
          </a:p>
          <a:p>
            <a:r>
              <a:rPr lang="en-US" dirty="0" smtClean="0"/>
              <a:t>-Name</a:t>
            </a:r>
          </a:p>
          <a:p>
            <a:r>
              <a:rPr lang="en-US" dirty="0" smtClean="0"/>
              <a:t>-Email</a:t>
            </a:r>
          </a:p>
          <a:p>
            <a:r>
              <a:rPr lang="en-US" dirty="0" smtClean="0"/>
              <a:t>-Password</a:t>
            </a:r>
            <a:endParaRPr lang="en-US" dirty="0"/>
          </a:p>
        </p:txBody>
      </p:sp>
      <p:sp>
        <p:nvSpPr>
          <p:cNvPr id="33" name="TextBox 32"/>
          <p:cNvSpPr txBox="1"/>
          <p:nvPr/>
        </p:nvSpPr>
        <p:spPr>
          <a:xfrm>
            <a:off x="4090737" y="1652336"/>
            <a:ext cx="1973180" cy="1477328"/>
          </a:xfrm>
          <a:prstGeom prst="rect">
            <a:avLst/>
          </a:prstGeom>
          <a:noFill/>
        </p:spPr>
        <p:txBody>
          <a:bodyPr wrap="square" rtlCol="0">
            <a:spAutoFit/>
          </a:bodyPr>
          <a:lstStyle/>
          <a:p>
            <a:r>
              <a:rPr lang="en-US" dirty="0" smtClean="0"/>
              <a:t>-Product_id (PK)</a:t>
            </a:r>
          </a:p>
          <a:p>
            <a:r>
              <a:rPr lang="en-US" dirty="0" smtClean="0"/>
              <a:t>-Name</a:t>
            </a:r>
          </a:p>
          <a:p>
            <a:r>
              <a:rPr lang="en-US" dirty="0" smtClean="0"/>
              <a:t>-Description</a:t>
            </a:r>
          </a:p>
          <a:p>
            <a:r>
              <a:rPr lang="en-US" dirty="0" smtClean="0"/>
              <a:t>-Price</a:t>
            </a:r>
          </a:p>
          <a:p>
            <a:r>
              <a:rPr lang="en-US" dirty="0" smtClean="0"/>
              <a:t>-Quantity</a:t>
            </a:r>
            <a:endParaRPr lang="en-US" dirty="0"/>
          </a:p>
        </p:txBody>
      </p:sp>
      <p:sp>
        <p:nvSpPr>
          <p:cNvPr id="35" name="TextBox 34"/>
          <p:cNvSpPr txBox="1"/>
          <p:nvPr/>
        </p:nvSpPr>
        <p:spPr>
          <a:xfrm>
            <a:off x="545432" y="4244988"/>
            <a:ext cx="2133600" cy="2031325"/>
          </a:xfrm>
          <a:prstGeom prst="rect">
            <a:avLst/>
          </a:prstGeom>
          <a:noFill/>
        </p:spPr>
        <p:txBody>
          <a:bodyPr wrap="square" rtlCol="0">
            <a:spAutoFit/>
          </a:bodyPr>
          <a:lstStyle/>
          <a:p>
            <a:r>
              <a:rPr lang="en-US" dirty="0" smtClean="0"/>
              <a:t>-Pet_id (PK)</a:t>
            </a:r>
          </a:p>
          <a:p>
            <a:r>
              <a:rPr lang="en-US" dirty="0" smtClean="0"/>
              <a:t>-User_id (FK)</a:t>
            </a:r>
          </a:p>
          <a:p>
            <a:r>
              <a:rPr lang="en-US" dirty="0" smtClean="0"/>
              <a:t>-Name</a:t>
            </a:r>
          </a:p>
          <a:p>
            <a:r>
              <a:rPr lang="en-US" dirty="0" smtClean="0"/>
              <a:t>-Species</a:t>
            </a:r>
          </a:p>
          <a:p>
            <a:r>
              <a:rPr lang="en-US" dirty="0" smtClean="0"/>
              <a:t>-Breed</a:t>
            </a:r>
          </a:p>
          <a:p>
            <a:r>
              <a:rPr lang="en-US" dirty="0" smtClean="0"/>
              <a:t>-Age</a:t>
            </a:r>
          </a:p>
          <a:p>
            <a:r>
              <a:rPr lang="en-US" dirty="0" smtClean="0"/>
              <a:t>-Gender</a:t>
            </a:r>
            <a:endParaRPr lang="en-US" dirty="0"/>
          </a:p>
        </p:txBody>
      </p:sp>
      <p:sp>
        <p:nvSpPr>
          <p:cNvPr id="36" name="TextBox 35"/>
          <p:cNvSpPr txBox="1"/>
          <p:nvPr/>
        </p:nvSpPr>
        <p:spPr>
          <a:xfrm>
            <a:off x="3463089" y="4668253"/>
            <a:ext cx="2005264" cy="1477328"/>
          </a:xfrm>
          <a:prstGeom prst="rect">
            <a:avLst/>
          </a:prstGeom>
          <a:noFill/>
        </p:spPr>
        <p:txBody>
          <a:bodyPr wrap="square" rtlCol="0">
            <a:spAutoFit/>
          </a:bodyPr>
          <a:lstStyle/>
          <a:p>
            <a:r>
              <a:rPr lang="en-US" dirty="0" smtClean="0"/>
              <a:t>-</a:t>
            </a:r>
            <a:r>
              <a:rPr lang="en-US" dirty="0" err="1" smtClean="0"/>
              <a:t>Reminder_id</a:t>
            </a:r>
            <a:r>
              <a:rPr lang="en-US" dirty="0" smtClean="0"/>
              <a:t> (PK)</a:t>
            </a:r>
          </a:p>
          <a:p>
            <a:r>
              <a:rPr lang="en-US" dirty="0" smtClean="0"/>
              <a:t>-Pet_id (Fk)</a:t>
            </a:r>
          </a:p>
          <a:p>
            <a:r>
              <a:rPr lang="en-US" dirty="0" smtClean="0"/>
              <a:t>-Type</a:t>
            </a:r>
          </a:p>
          <a:p>
            <a:r>
              <a:rPr lang="en-US" dirty="0" smtClean="0"/>
              <a:t>-Date_time</a:t>
            </a:r>
          </a:p>
          <a:p>
            <a:r>
              <a:rPr lang="en-US" dirty="0" smtClean="0"/>
              <a:t>-Notes</a:t>
            </a:r>
            <a:endParaRPr lang="en-US" dirty="0"/>
          </a:p>
        </p:txBody>
      </p:sp>
      <p:sp>
        <p:nvSpPr>
          <p:cNvPr id="37" name="TextBox 36"/>
          <p:cNvSpPr txBox="1"/>
          <p:nvPr/>
        </p:nvSpPr>
        <p:spPr>
          <a:xfrm>
            <a:off x="6365706" y="2079304"/>
            <a:ext cx="2302042" cy="646331"/>
          </a:xfrm>
          <a:prstGeom prst="rect">
            <a:avLst/>
          </a:prstGeom>
          <a:noFill/>
        </p:spPr>
        <p:txBody>
          <a:bodyPr wrap="square" rtlCol="0">
            <a:spAutoFit/>
          </a:bodyPr>
          <a:lstStyle/>
          <a:p>
            <a:r>
              <a:rPr lang="en-US" dirty="0" smtClean="0"/>
              <a:t>-Cart_id (PK)</a:t>
            </a:r>
          </a:p>
          <a:p>
            <a:r>
              <a:rPr lang="en-US" dirty="0" smtClean="0"/>
              <a:t>-User_id (FK)</a:t>
            </a:r>
            <a:endParaRPr lang="en-US" dirty="0"/>
          </a:p>
        </p:txBody>
      </p:sp>
      <p:sp>
        <p:nvSpPr>
          <p:cNvPr id="38" name="Rectangle 37"/>
          <p:cNvSpPr/>
          <p:nvPr/>
        </p:nvSpPr>
        <p:spPr>
          <a:xfrm>
            <a:off x="6573252" y="4014774"/>
            <a:ext cx="2037347" cy="2491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0" name="Straight Connector 39"/>
          <p:cNvCxnSpPr/>
          <p:nvPr/>
        </p:nvCxnSpPr>
        <p:spPr>
          <a:xfrm>
            <a:off x="6573252" y="4419600"/>
            <a:ext cx="2094496" cy="0"/>
          </a:xfrm>
          <a:prstGeom prst="line">
            <a:avLst/>
          </a:prstGeom>
        </p:spPr>
        <p:style>
          <a:lnRef idx="1">
            <a:schemeClr val="dk1"/>
          </a:lnRef>
          <a:fillRef idx="0">
            <a:schemeClr val="dk1"/>
          </a:fillRef>
          <a:effectRef idx="0">
            <a:schemeClr val="dk1"/>
          </a:effectRef>
          <a:fontRef idx="minor">
            <a:schemeClr val="tx1"/>
          </a:fontRef>
        </p:style>
      </p:cxnSp>
      <p:sp>
        <p:nvSpPr>
          <p:cNvPr id="42" name="TextBox 41"/>
          <p:cNvSpPr txBox="1"/>
          <p:nvPr/>
        </p:nvSpPr>
        <p:spPr>
          <a:xfrm>
            <a:off x="6601826" y="3962400"/>
            <a:ext cx="2037347" cy="523220"/>
          </a:xfrm>
          <a:prstGeom prst="rect">
            <a:avLst/>
          </a:prstGeom>
          <a:noFill/>
        </p:spPr>
        <p:txBody>
          <a:bodyPr wrap="square" rtlCol="0">
            <a:spAutoFit/>
          </a:bodyPr>
          <a:lstStyle/>
          <a:p>
            <a:pPr algn="ctr"/>
            <a:r>
              <a:rPr lang="en-US" sz="2800" b="1" dirty="0" smtClean="0"/>
              <a:t>CartItem</a:t>
            </a:r>
            <a:endParaRPr lang="en-US" b="1" dirty="0"/>
          </a:p>
        </p:txBody>
      </p:sp>
      <p:sp>
        <p:nvSpPr>
          <p:cNvPr id="43" name="TextBox 42"/>
          <p:cNvSpPr txBox="1"/>
          <p:nvPr/>
        </p:nvSpPr>
        <p:spPr>
          <a:xfrm>
            <a:off x="6573252" y="4419600"/>
            <a:ext cx="2037347" cy="1200329"/>
          </a:xfrm>
          <a:prstGeom prst="rect">
            <a:avLst/>
          </a:prstGeom>
          <a:noFill/>
        </p:spPr>
        <p:txBody>
          <a:bodyPr wrap="square" rtlCol="0">
            <a:spAutoFit/>
          </a:bodyPr>
          <a:lstStyle/>
          <a:p>
            <a:r>
              <a:rPr lang="en-US" dirty="0" smtClean="0"/>
              <a:t>-Cart_item_id (PK)</a:t>
            </a:r>
          </a:p>
          <a:p>
            <a:r>
              <a:rPr lang="en-US" dirty="0" smtClean="0"/>
              <a:t>-Cart_id (FK)</a:t>
            </a:r>
          </a:p>
          <a:p>
            <a:r>
              <a:rPr lang="en-US" dirty="0" smtClean="0"/>
              <a:t>-Product_id (FK)</a:t>
            </a:r>
          </a:p>
          <a:p>
            <a:r>
              <a:rPr lang="en-US" dirty="0" smtClean="0"/>
              <a:t>-Quantity</a:t>
            </a:r>
            <a:endParaRPr lang="en-US" dirty="0"/>
          </a:p>
        </p:txBody>
      </p:sp>
      <p:sp>
        <p:nvSpPr>
          <p:cNvPr id="44" name="TextBox 43"/>
          <p:cNvSpPr txBox="1"/>
          <p:nvPr/>
        </p:nvSpPr>
        <p:spPr>
          <a:xfrm>
            <a:off x="9288379" y="850232"/>
            <a:ext cx="2374232" cy="1477328"/>
          </a:xfrm>
          <a:prstGeom prst="rect">
            <a:avLst/>
          </a:prstGeom>
          <a:noFill/>
        </p:spPr>
        <p:txBody>
          <a:bodyPr wrap="square" rtlCol="0">
            <a:spAutoFit/>
          </a:bodyPr>
          <a:lstStyle/>
          <a:p>
            <a:r>
              <a:rPr lang="en-US" dirty="0" smtClean="0"/>
              <a:t>-Vet_id (PK)</a:t>
            </a:r>
          </a:p>
          <a:p>
            <a:r>
              <a:rPr lang="en-US" dirty="0" smtClean="0"/>
              <a:t>-Name</a:t>
            </a:r>
          </a:p>
          <a:p>
            <a:r>
              <a:rPr lang="en-US" dirty="0" smtClean="0"/>
              <a:t>-Clinic_name</a:t>
            </a:r>
          </a:p>
          <a:p>
            <a:r>
              <a:rPr lang="en-US" dirty="0" smtClean="0"/>
              <a:t>-Location</a:t>
            </a:r>
          </a:p>
          <a:p>
            <a:r>
              <a:rPr lang="en-US" dirty="0" smtClean="0"/>
              <a:t>-Contact_Info</a:t>
            </a:r>
            <a:endParaRPr lang="en-US" dirty="0"/>
          </a:p>
        </p:txBody>
      </p:sp>
      <p:sp>
        <p:nvSpPr>
          <p:cNvPr id="45" name="TextBox 44"/>
          <p:cNvSpPr txBox="1"/>
          <p:nvPr/>
        </p:nvSpPr>
        <p:spPr>
          <a:xfrm>
            <a:off x="9272337" y="3721768"/>
            <a:ext cx="2342147" cy="1477328"/>
          </a:xfrm>
          <a:prstGeom prst="rect">
            <a:avLst/>
          </a:prstGeom>
          <a:noFill/>
        </p:spPr>
        <p:txBody>
          <a:bodyPr wrap="square" rtlCol="0">
            <a:spAutoFit/>
          </a:bodyPr>
          <a:lstStyle/>
          <a:p>
            <a:r>
              <a:rPr lang="en-US" dirty="0" smtClean="0"/>
              <a:t>-Appointment_id (PK)</a:t>
            </a:r>
          </a:p>
          <a:p>
            <a:r>
              <a:rPr lang="en-US" dirty="0" smtClean="0"/>
              <a:t>-Pet_id (FK)</a:t>
            </a:r>
          </a:p>
          <a:p>
            <a:r>
              <a:rPr lang="en-US" dirty="0" smtClean="0"/>
              <a:t>-Vet_id (FK)</a:t>
            </a:r>
          </a:p>
          <a:p>
            <a:r>
              <a:rPr lang="en-US" dirty="0" smtClean="0"/>
              <a:t>-Date_time</a:t>
            </a:r>
          </a:p>
          <a:p>
            <a:r>
              <a:rPr lang="en-US" dirty="0" smtClean="0"/>
              <a:t>-Status</a:t>
            </a:r>
            <a:endParaRPr lang="en-US" dirty="0"/>
          </a:p>
        </p:txBody>
      </p:sp>
      <p:cxnSp>
        <p:nvCxnSpPr>
          <p:cNvPr id="47" name="Elbow Connector 46"/>
          <p:cNvCxnSpPr>
            <a:stCxn id="32" idx="3"/>
            <a:endCxn id="35" idx="3"/>
          </p:cNvCxnSpPr>
          <p:nvPr/>
        </p:nvCxnSpPr>
        <p:spPr>
          <a:xfrm flipH="1">
            <a:off x="2679032" y="1463354"/>
            <a:ext cx="15039" cy="3797297"/>
          </a:xfrm>
          <a:prstGeom prst="bentConnector3">
            <a:avLst>
              <a:gd name="adj1" fmla="val -2693417"/>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679032" y="5619929"/>
            <a:ext cx="7389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865218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090734" y="192505"/>
            <a:ext cx="4058653" cy="81814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b="1" dirty="0" smtClean="0"/>
              <a:t>Activity Diagram</a:t>
            </a:r>
            <a:endParaRPr lang="en-US" sz="28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8936" y="1485901"/>
            <a:ext cx="9562248" cy="3954924"/>
          </a:xfrm>
          <a:prstGeom prst="rect">
            <a:avLst/>
          </a:prstGeom>
        </p:spPr>
      </p:pic>
    </p:spTree>
    <p:extLst>
      <p:ext uri="{BB962C8B-B14F-4D97-AF65-F5344CB8AC3E}">
        <p14:creationId xmlns:p14="http://schemas.microsoft.com/office/powerpoint/2010/main" val="36669279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580794" y="184639"/>
            <a:ext cx="3006968" cy="6682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Test Cases</a:t>
            </a:r>
            <a:endParaRPr lang="en-US" sz="3200" b="1" dirty="0">
              <a:solidFill>
                <a:schemeClr val="tx1"/>
              </a:solidFill>
            </a:endParaRPr>
          </a:p>
        </p:txBody>
      </p:sp>
      <p:sp>
        <p:nvSpPr>
          <p:cNvPr id="3" name="TextBox 2"/>
          <p:cNvSpPr txBox="1"/>
          <p:nvPr/>
        </p:nvSpPr>
        <p:spPr>
          <a:xfrm>
            <a:off x="352926" y="1187116"/>
            <a:ext cx="2935706" cy="430887"/>
          </a:xfrm>
          <a:prstGeom prst="rect">
            <a:avLst/>
          </a:prstGeom>
          <a:noFill/>
        </p:spPr>
        <p:txBody>
          <a:bodyPr wrap="square" rtlCol="0">
            <a:spAutoFit/>
          </a:bodyPr>
          <a:lstStyle/>
          <a:p>
            <a:r>
              <a:rPr lang="en-US" sz="2200" b="1" dirty="0" smtClean="0"/>
              <a:t>1-User Authentication:</a:t>
            </a:r>
            <a:endParaRPr lang="en-US" sz="2200" b="1" dirty="0"/>
          </a:p>
        </p:txBody>
      </p:sp>
      <p:graphicFrame>
        <p:nvGraphicFramePr>
          <p:cNvPr id="4" name="Table 3"/>
          <p:cNvGraphicFramePr>
            <a:graphicFrameLocks noGrp="1"/>
          </p:cNvGraphicFramePr>
          <p:nvPr>
            <p:extLst>
              <p:ext uri="{D42A27DB-BD31-4B8C-83A1-F6EECF244321}">
                <p14:modId xmlns:p14="http://schemas.microsoft.com/office/powerpoint/2010/main" val="3819656430"/>
              </p:ext>
            </p:extLst>
          </p:nvPr>
        </p:nvGraphicFramePr>
        <p:xfrm>
          <a:off x="1820779" y="2131371"/>
          <a:ext cx="8510337" cy="3804207"/>
        </p:xfrm>
        <a:graphic>
          <a:graphicData uri="http://schemas.openxmlformats.org/drawingml/2006/table">
            <a:tbl>
              <a:tblPr firstRow="1" bandRow="1">
                <a:tableStyleId>{5C22544A-7EE6-4342-B048-85BDC9FD1C3A}</a:tableStyleId>
              </a:tblPr>
              <a:tblGrid>
                <a:gridCol w="1335339">
                  <a:extLst>
                    <a:ext uri="{9D8B030D-6E8A-4147-A177-3AD203B41FA5}">
                      <a16:colId xmlns:a16="http://schemas.microsoft.com/office/drawing/2014/main" val="2289159150"/>
                    </a:ext>
                  </a:extLst>
                </a:gridCol>
                <a:gridCol w="4338219">
                  <a:extLst>
                    <a:ext uri="{9D8B030D-6E8A-4147-A177-3AD203B41FA5}">
                      <a16:colId xmlns:a16="http://schemas.microsoft.com/office/drawing/2014/main" val="678642425"/>
                    </a:ext>
                  </a:extLst>
                </a:gridCol>
                <a:gridCol w="2836779">
                  <a:extLst>
                    <a:ext uri="{9D8B030D-6E8A-4147-A177-3AD203B41FA5}">
                      <a16:colId xmlns:a16="http://schemas.microsoft.com/office/drawing/2014/main" val="2658844062"/>
                    </a:ext>
                  </a:extLst>
                </a:gridCol>
              </a:tblGrid>
              <a:tr h="681835">
                <a:tc>
                  <a:txBody>
                    <a:bodyPr/>
                    <a:lstStyle/>
                    <a:p>
                      <a:pPr algn="ctr"/>
                      <a:r>
                        <a:rPr lang="en-US" dirty="0" smtClean="0"/>
                        <a:t>Test</a:t>
                      </a:r>
                      <a:r>
                        <a:rPr lang="en-US" baseline="0" dirty="0" smtClean="0"/>
                        <a:t> Case ID</a:t>
                      </a:r>
                      <a:endParaRPr lang="en-US" dirty="0"/>
                    </a:p>
                  </a:txBody>
                  <a:tcPr/>
                </a:tc>
                <a:tc>
                  <a:txBody>
                    <a:bodyPr/>
                    <a:lstStyle/>
                    <a:p>
                      <a:pPr algn="ctr"/>
                      <a:r>
                        <a:rPr lang="en-US" dirty="0" smtClean="0"/>
                        <a:t>Description</a:t>
                      </a:r>
                      <a:endParaRPr lang="en-US" dirty="0"/>
                    </a:p>
                  </a:txBody>
                  <a:tcPr/>
                </a:tc>
                <a:tc>
                  <a:txBody>
                    <a:bodyPr/>
                    <a:lstStyle/>
                    <a:p>
                      <a:pPr algn="ctr"/>
                      <a:r>
                        <a:rPr lang="en-US" dirty="0" smtClean="0"/>
                        <a:t>Expected Result</a:t>
                      </a:r>
                      <a:endParaRPr lang="en-US" dirty="0"/>
                    </a:p>
                  </a:txBody>
                  <a:tcPr/>
                </a:tc>
                <a:extLst>
                  <a:ext uri="{0D108BD9-81ED-4DB2-BD59-A6C34878D82A}">
                    <a16:rowId xmlns:a16="http://schemas.microsoft.com/office/drawing/2014/main" val="1447531277"/>
                  </a:ext>
                </a:extLst>
              </a:tr>
              <a:tr h="681835">
                <a:tc>
                  <a:txBody>
                    <a:bodyPr/>
                    <a:lstStyle/>
                    <a:p>
                      <a:r>
                        <a:rPr lang="en-US" dirty="0" smtClean="0"/>
                        <a:t>TC01</a:t>
                      </a:r>
                      <a:endParaRPr lang="en-US" dirty="0"/>
                    </a:p>
                  </a:txBody>
                  <a:tcPr/>
                </a:tc>
                <a:tc>
                  <a:txBody>
                    <a:bodyPr/>
                    <a:lstStyle/>
                    <a:p>
                      <a:pPr algn="r"/>
                      <a:r>
                        <a:rPr lang="ar-SY" dirty="0" smtClean="0"/>
                        <a:t>انشاء</a:t>
                      </a:r>
                      <a:r>
                        <a:rPr lang="ar-SY" baseline="0" dirty="0" smtClean="0"/>
                        <a:t> حساب بمعلومات موافقة للقواعد الظاهرة للمستخدم</a:t>
                      </a:r>
                      <a:endParaRPr lang="en-US" dirty="0"/>
                    </a:p>
                  </a:txBody>
                  <a:tcPr/>
                </a:tc>
                <a:tc>
                  <a:txBody>
                    <a:bodyPr/>
                    <a:lstStyle/>
                    <a:p>
                      <a:pPr algn="r"/>
                      <a:r>
                        <a:rPr lang="ar-SY" dirty="0" smtClean="0"/>
                        <a:t>الحساب يتم إنشاءه</a:t>
                      </a:r>
                      <a:r>
                        <a:rPr lang="ar-SY" baseline="0" dirty="0" smtClean="0"/>
                        <a:t> بنجاح</a:t>
                      </a:r>
                      <a:endParaRPr lang="en-US" dirty="0"/>
                    </a:p>
                  </a:txBody>
                  <a:tcPr/>
                </a:tc>
                <a:extLst>
                  <a:ext uri="{0D108BD9-81ED-4DB2-BD59-A6C34878D82A}">
                    <a16:rowId xmlns:a16="http://schemas.microsoft.com/office/drawing/2014/main" val="2798663267"/>
                  </a:ext>
                </a:extLst>
              </a:tr>
              <a:tr h="681835">
                <a:tc>
                  <a:txBody>
                    <a:bodyPr/>
                    <a:lstStyle/>
                    <a:p>
                      <a:r>
                        <a:rPr lang="en-US" dirty="0" smtClean="0"/>
                        <a:t>TC02</a:t>
                      </a:r>
                      <a:endParaRPr lang="en-US" dirty="0"/>
                    </a:p>
                  </a:txBody>
                  <a:tcPr/>
                </a:tc>
                <a:tc>
                  <a:txBody>
                    <a:bodyPr/>
                    <a:lstStyle/>
                    <a:p>
                      <a:pPr algn="r"/>
                      <a:r>
                        <a:rPr lang="ar-SY" dirty="0" smtClean="0"/>
                        <a:t>انشاء</a:t>
                      </a:r>
                      <a:r>
                        <a:rPr lang="ar-SY" baseline="0" dirty="0" smtClean="0"/>
                        <a:t> حساب بمعلومات مخالفة للقواعد الظاهرة للمستخدم</a:t>
                      </a:r>
                      <a:endParaRPr lang="en-US" dirty="0"/>
                    </a:p>
                  </a:txBody>
                  <a:tcPr/>
                </a:tc>
                <a:tc>
                  <a:txBody>
                    <a:bodyPr/>
                    <a:lstStyle/>
                    <a:p>
                      <a:pPr algn="r"/>
                      <a:r>
                        <a:rPr lang="ar-SY" dirty="0" smtClean="0"/>
                        <a:t>يظهر رسالة خطأ للمستخدم</a:t>
                      </a:r>
                      <a:endParaRPr lang="en-US" dirty="0"/>
                    </a:p>
                  </a:txBody>
                  <a:tcPr/>
                </a:tc>
                <a:extLst>
                  <a:ext uri="{0D108BD9-81ED-4DB2-BD59-A6C34878D82A}">
                    <a16:rowId xmlns:a16="http://schemas.microsoft.com/office/drawing/2014/main" val="660792215"/>
                  </a:ext>
                </a:extLst>
              </a:tr>
              <a:tr h="681835">
                <a:tc>
                  <a:txBody>
                    <a:bodyPr/>
                    <a:lstStyle/>
                    <a:p>
                      <a:r>
                        <a:rPr lang="en-US" dirty="0" smtClean="0"/>
                        <a:t>TC03</a:t>
                      </a:r>
                      <a:endParaRPr lang="en-US" dirty="0"/>
                    </a:p>
                  </a:txBody>
                  <a:tcPr/>
                </a:tc>
                <a:tc>
                  <a:txBody>
                    <a:bodyPr/>
                    <a:lstStyle/>
                    <a:p>
                      <a:pPr algn="r"/>
                      <a:r>
                        <a:rPr lang="ar-SY" dirty="0" smtClean="0"/>
                        <a:t>تسجيل الدخول بمعلومات صحيحة</a:t>
                      </a:r>
                      <a:endParaRPr lang="en-US" dirty="0"/>
                    </a:p>
                  </a:txBody>
                  <a:tcPr/>
                </a:tc>
                <a:tc>
                  <a:txBody>
                    <a:bodyPr/>
                    <a:lstStyle/>
                    <a:p>
                      <a:pPr algn="r"/>
                      <a:r>
                        <a:rPr lang="ar-SY" dirty="0" smtClean="0"/>
                        <a:t>يدخل المستخدم الى</a:t>
                      </a:r>
                      <a:r>
                        <a:rPr lang="ar-SY" baseline="0" dirty="0" smtClean="0"/>
                        <a:t> حسابه الشخصي في التطبيق</a:t>
                      </a:r>
                      <a:endParaRPr lang="en-US" dirty="0"/>
                    </a:p>
                  </a:txBody>
                  <a:tcPr/>
                </a:tc>
                <a:extLst>
                  <a:ext uri="{0D108BD9-81ED-4DB2-BD59-A6C34878D82A}">
                    <a16:rowId xmlns:a16="http://schemas.microsoft.com/office/drawing/2014/main" val="3954753787"/>
                  </a:ext>
                </a:extLst>
              </a:tr>
              <a:tr h="395032">
                <a:tc>
                  <a:txBody>
                    <a:bodyPr/>
                    <a:lstStyle/>
                    <a:p>
                      <a:r>
                        <a:rPr lang="en-US" dirty="0" smtClean="0"/>
                        <a:t>TC04</a:t>
                      </a:r>
                      <a:endParaRPr lang="en-US" dirty="0"/>
                    </a:p>
                  </a:txBody>
                  <a:tcPr/>
                </a:tc>
                <a:tc>
                  <a:txBody>
                    <a:bodyPr/>
                    <a:lstStyle/>
                    <a:p>
                      <a:pPr algn="r"/>
                      <a:r>
                        <a:rPr lang="ar-SY" dirty="0" smtClean="0"/>
                        <a:t>تسجيل الدخول بمعلومات خاطئة</a:t>
                      </a:r>
                      <a:endParaRPr lang="en-US" dirty="0"/>
                    </a:p>
                  </a:txBody>
                  <a:tcPr/>
                </a:tc>
                <a:tc>
                  <a:txBody>
                    <a:bodyPr/>
                    <a:lstStyle/>
                    <a:p>
                      <a:pPr algn="r"/>
                      <a:r>
                        <a:rPr lang="ar-SY" dirty="0" smtClean="0"/>
                        <a:t>تظهر رسالة خطأ للمستخدم</a:t>
                      </a:r>
                      <a:endParaRPr lang="en-US" dirty="0"/>
                    </a:p>
                  </a:txBody>
                  <a:tcPr/>
                </a:tc>
                <a:extLst>
                  <a:ext uri="{0D108BD9-81ED-4DB2-BD59-A6C34878D82A}">
                    <a16:rowId xmlns:a16="http://schemas.microsoft.com/office/drawing/2014/main" val="3999013411"/>
                  </a:ext>
                </a:extLst>
              </a:tr>
              <a:tr h="681835">
                <a:tc>
                  <a:txBody>
                    <a:bodyPr/>
                    <a:lstStyle/>
                    <a:p>
                      <a:r>
                        <a:rPr lang="en-US" dirty="0" smtClean="0"/>
                        <a:t>TC05</a:t>
                      </a:r>
                      <a:endParaRPr lang="en-US" dirty="0"/>
                    </a:p>
                  </a:txBody>
                  <a:tcPr/>
                </a:tc>
                <a:tc>
                  <a:txBody>
                    <a:bodyPr/>
                    <a:lstStyle/>
                    <a:p>
                      <a:pPr algn="r"/>
                      <a:r>
                        <a:rPr lang="ar-SY" dirty="0" smtClean="0"/>
                        <a:t>تسجيل الخروج</a:t>
                      </a:r>
                      <a:endParaRPr lang="en-US" dirty="0"/>
                    </a:p>
                  </a:txBody>
                  <a:tcPr/>
                </a:tc>
                <a:tc>
                  <a:txBody>
                    <a:bodyPr/>
                    <a:lstStyle/>
                    <a:p>
                      <a:pPr algn="r"/>
                      <a:r>
                        <a:rPr lang="ar-SY" dirty="0" smtClean="0"/>
                        <a:t>تنتهي جلسة المستخدم</a:t>
                      </a:r>
                      <a:r>
                        <a:rPr lang="ar-SY" baseline="0" dirty="0" smtClean="0"/>
                        <a:t> وينتقل الى صفحة تسجيل الدخول</a:t>
                      </a:r>
                      <a:endParaRPr lang="en-US" dirty="0"/>
                    </a:p>
                  </a:txBody>
                  <a:tcPr/>
                </a:tc>
                <a:extLst>
                  <a:ext uri="{0D108BD9-81ED-4DB2-BD59-A6C34878D82A}">
                    <a16:rowId xmlns:a16="http://schemas.microsoft.com/office/drawing/2014/main" val="120398021"/>
                  </a:ext>
                </a:extLst>
              </a:tr>
            </a:tbl>
          </a:graphicData>
        </a:graphic>
      </p:graphicFrame>
    </p:spTree>
    <p:extLst>
      <p:ext uri="{BB962C8B-B14F-4D97-AF65-F5344CB8AC3E}">
        <p14:creationId xmlns:p14="http://schemas.microsoft.com/office/powerpoint/2010/main" val="2188908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580794" y="184639"/>
            <a:ext cx="3006968" cy="6682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Test Cases</a:t>
            </a:r>
            <a:endParaRPr lang="en-US" sz="3200" b="1" dirty="0">
              <a:solidFill>
                <a:schemeClr val="tx1"/>
              </a:solidFill>
            </a:endParaRPr>
          </a:p>
        </p:txBody>
      </p:sp>
      <p:sp>
        <p:nvSpPr>
          <p:cNvPr id="3" name="TextBox 2"/>
          <p:cNvSpPr txBox="1"/>
          <p:nvPr/>
        </p:nvSpPr>
        <p:spPr>
          <a:xfrm>
            <a:off x="641684" y="1283368"/>
            <a:ext cx="2999874" cy="430887"/>
          </a:xfrm>
          <a:prstGeom prst="rect">
            <a:avLst/>
          </a:prstGeom>
          <a:noFill/>
        </p:spPr>
        <p:txBody>
          <a:bodyPr wrap="square" rtlCol="0">
            <a:spAutoFit/>
          </a:bodyPr>
          <a:lstStyle/>
          <a:p>
            <a:r>
              <a:rPr lang="en-US" sz="2200" b="1" dirty="0" smtClean="0"/>
              <a:t>2-Profile Settings:</a:t>
            </a:r>
            <a:endParaRPr lang="en-US" sz="2200" b="1" dirty="0"/>
          </a:p>
        </p:txBody>
      </p:sp>
      <p:graphicFrame>
        <p:nvGraphicFramePr>
          <p:cNvPr id="4" name="Table 3"/>
          <p:cNvGraphicFramePr>
            <a:graphicFrameLocks noGrp="1"/>
          </p:cNvGraphicFramePr>
          <p:nvPr>
            <p:extLst>
              <p:ext uri="{D42A27DB-BD31-4B8C-83A1-F6EECF244321}">
                <p14:modId xmlns:p14="http://schemas.microsoft.com/office/powerpoint/2010/main" val="1055501005"/>
              </p:ext>
            </p:extLst>
          </p:nvPr>
        </p:nvGraphicFramePr>
        <p:xfrm>
          <a:off x="1732547" y="2163455"/>
          <a:ext cx="9288378" cy="3050228"/>
        </p:xfrm>
        <a:graphic>
          <a:graphicData uri="http://schemas.openxmlformats.org/drawingml/2006/table">
            <a:tbl>
              <a:tblPr firstRow="1" bandRow="1">
                <a:tableStyleId>{5C22544A-7EE6-4342-B048-85BDC9FD1C3A}</a:tableStyleId>
              </a:tblPr>
              <a:tblGrid>
                <a:gridCol w="1669727">
                  <a:extLst>
                    <a:ext uri="{9D8B030D-6E8A-4147-A177-3AD203B41FA5}">
                      <a16:colId xmlns:a16="http://schemas.microsoft.com/office/drawing/2014/main" val="1011036676"/>
                    </a:ext>
                  </a:extLst>
                </a:gridCol>
                <a:gridCol w="4522525">
                  <a:extLst>
                    <a:ext uri="{9D8B030D-6E8A-4147-A177-3AD203B41FA5}">
                      <a16:colId xmlns:a16="http://schemas.microsoft.com/office/drawing/2014/main" val="3171478844"/>
                    </a:ext>
                  </a:extLst>
                </a:gridCol>
                <a:gridCol w="3096126">
                  <a:extLst>
                    <a:ext uri="{9D8B030D-6E8A-4147-A177-3AD203B41FA5}">
                      <a16:colId xmlns:a16="http://schemas.microsoft.com/office/drawing/2014/main" val="4145995907"/>
                    </a:ext>
                  </a:extLst>
                </a:gridCol>
              </a:tblGrid>
              <a:tr h="762557">
                <a:tc>
                  <a:txBody>
                    <a:bodyPr/>
                    <a:lstStyle/>
                    <a:p>
                      <a:pPr algn="ctr"/>
                      <a:r>
                        <a:rPr lang="en-US" dirty="0" smtClean="0"/>
                        <a:t>Test Case ID</a:t>
                      </a:r>
                      <a:endParaRPr lang="en-US" dirty="0"/>
                    </a:p>
                  </a:txBody>
                  <a:tcPr/>
                </a:tc>
                <a:tc>
                  <a:txBody>
                    <a:bodyPr/>
                    <a:lstStyle/>
                    <a:p>
                      <a:pPr algn="ctr"/>
                      <a:r>
                        <a:rPr lang="en-US" dirty="0" smtClean="0"/>
                        <a:t>Description</a:t>
                      </a:r>
                      <a:endParaRPr lang="en-US" dirty="0"/>
                    </a:p>
                  </a:txBody>
                  <a:tcPr/>
                </a:tc>
                <a:tc>
                  <a:txBody>
                    <a:bodyPr/>
                    <a:lstStyle/>
                    <a:p>
                      <a:pPr algn="ctr"/>
                      <a:r>
                        <a:rPr lang="en-US" dirty="0" smtClean="0"/>
                        <a:t>Expected Result</a:t>
                      </a:r>
                      <a:endParaRPr lang="en-US" dirty="0"/>
                    </a:p>
                  </a:txBody>
                  <a:tcPr/>
                </a:tc>
                <a:extLst>
                  <a:ext uri="{0D108BD9-81ED-4DB2-BD59-A6C34878D82A}">
                    <a16:rowId xmlns:a16="http://schemas.microsoft.com/office/drawing/2014/main" val="874976594"/>
                  </a:ext>
                </a:extLst>
              </a:tr>
              <a:tr h="762557">
                <a:tc>
                  <a:txBody>
                    <a:bodyPr/>
                    <a:lstStyle/>
                    <a:p>
                      <a:r>
                        <a:rPr lang="en-US" dirty="0" smtClean="0"/>
                        <a:t>TC06</a:t>
                      </a:r>
                      <a:endParaRPr lang="en-US" dirty="0"/>
                    </a:p>
                  </a:txBody>
                  <a:tcPr/>
                </a:tc>
                <a:tc>
                  <a:txBody>
                    <a:bodyPr/>
                    <a:lstStyle/>
                    <a:p>
                      <a:pPr algn="r"/>
                      <a:r>
                        <a:rPr lang="ar-SY" dirty="0" smtClean="0"/>
                        <a:t>تعديل حساب</a:t>
                      </a:r>
                      <a:r>
                        <a:rPr lang="ar-SY" baseline="0" dirty="0" smtClean="0"/>
                        <a:t> المستخدم </a:t>
                      </a:r>
                      <a:endParaRPr lang="en-US" dirty="0"/>
                    </a:p>
                  </a:txBody>
                  <a:tcPr/>
                </a:tc>
                <a:tc>
                  <a:txBody>
                    <a:bodyPr/>
                    <a:lstStyle/>
                    <a:p>
                      <a:pPr algn="r"/>
                      <a:r>
                        <a:rPr lang="ar-SY" dirty="0" smtClean="0"/>
                        <a:t>تحفظ التعديلات</a:t>
                      </a:r>
                      <a:r>
                        <a:rPr lang="ar-SY" baseline="0" dirty="0" smtClean="0"/>
                        <a:t> وتظهر عند المستخدم</a:t>
                      </a:r>
                      <a:endParaRPr lang="en-US" dirty="0"/>
                    </a:p>
                  </a:txBody>
                  <a:tcPr/>
                </a:tc>
                <a:extLst>
                  <a:ext uri="{0D108BD9-81ED-4DB2-BD59-A6C34878D82A}">
                    <a16:rowId xmlns:a16="http://schemas.microsoft.com/office/drawing/2014/main" val="2129742096"/>
                  </a:ext>
                </a:extLst>
              </a:tr>
              <a:tr h="762557">
                <a:tc>
                  <a:txBody>
                    <a:bodyPr/>
                    <a:lstStyle/>
                    <a:p>
                      <a:r>
                        <a:rPr lang="en-US" dirty="0" smtClean="0"/>
                        <a:t>TC07</a:t>
                      </a:r>
                      <a:endParaRPr lang="en-US" dirty="0"/>
                    </a:p>
                  </a:txBody>
                  <a:tcPr/>
                </a:tc>
                <a:tc>
                  <a:txBody>
                    <a:bodyPr/>
                    <a:lstStyle/>
                    <a:p>
                      <a:pPr algn="r"/>
                      <a:r>
                        <a:rPr lang="ar-SY" dirty="0" smtClean="0"/>
                        <a:t>عرض حساب المستخدم</a:t>
                      </a:r>
                      <a:endParaRPr lang="en-US" dirty="0"/>
                    </a:p>
                  </a:txBody>
                  <a:tcPr/>
                </a:tc>
                <a:tc>
                  <a:txBody>
                    <a:bodyPr/>
                    <a:lstStyle/>
                    <a:p>
                      <a:pPr algn="r"/>
                      <a:r>
                        <a:rPr lang="ar-SY" dirty="0" smtClean="0"/>
                        <a:t>تظهر</a:t>
                      </a:r>
                      <a:r>
                        <a:rPr lang="ar-SY" baseline="0" dirty="0" smtClean="0"/>
                        <a:t> المعلومات بشكل صحيح</a:t>
                      </a:r>
                      <a:endParaRPr lang="en-US" dirty="0"/>
                    </a:p>
                  </a:txBody>
                  <a:tcPr/>
                </a:tc>
                <a:extLst>
                  <a:ext uri="{0D108BD9-81ED-4DB2-BD59-A6C34878D82A}">
                    <a16:rowId xmlns:a16="http://schemas.microsoft.com/office/drawing/2014/main" val="3464510180"/>
                  </a:ext>
                </a:extLst>
              </a:tr>
              <a:tr h="762557">
                <a:tc>
                  <a:txBody>
                    <a:bodyPr/>
                    <a:lstStyle/>
                    <a:p>
                      <a:r>
                        <a:rPr lang="en-US" dirty="0" smtClean="0"/>
                        <a:t>TC08</a:t>
                      </a:r>
                      <a:endParaRPr lang="en-US" dirty="0"/>
                    </a:p>
                  </a:txBody>
                  <a:tcPr/>
                </a:tc>
                <a:tc>
                  <a:txBody>
                    <a:bodyPr/>
                    <a:lstStyle/>
                    <a:p>
                      <a:pPr algn="r"/>
                      <a:r>
                        <a:rPr lang="ar-SY" dirty="0" smtClean="0"/>
                        <a:t>حذف حساب المستخدم</a:t>
                      </a:r>
                      <a:endParaRPr lang="en-US" dirty="0"/>
                    </a:p>
                  </a:txBody>
                  <a:tcPr/>
                </a:tc>
                <a:tc>
                  <a:txBody>
                    <a:bodyPr/>
                    <a:lstStyle/>
                    <a:p>
                      <a:pPr algn="r"/>
                      <a:r>
                        <a:rPr lang="ar-SY" dirty="0" smtClean="0"/>
                        <a:t>يحذف الحساب من قاعدة البيانات ويتم تسجيل الخروج</a:t>
                      </a:r>
                      <a:r>
                        <a:rPr lang="ar-SY" baseline="0" dirty="0" smtClean="0"/>
                        <a:t> للمستخدم</a:t>
                      </a:r>
                      <a:endParaRPr lang="en-US" dirty="0"/>
                    </a:p>
                  </a:txBody>
                  <a:tcPr/>
                </a:tc>
                <a:extLst>
                  <a:ext uri="{0D108BD9-81ED-4DB2-BD59-A6C34878D82A}">
                    <a16:rowId xmlns:a16="http://schemas.microsoft.com/office/drawing/2014/main" val="3999846551"/>
                  </a:ext>
                </a:extLst>
              </a:tr>
            </a:tbl>
          </a:graphicData>
        </a:graphic>
      </p:graphicFrame>
    </p:spTree>
    <p:extLst>
      <p:ext uri="{BB962C8B-B14F-4D97-AF65-F5344CB8AC3E}">
        <p14:creationId xmlns:p14="http://schemas.microsoft.com/office/powerpoint/2010/main" val="18757500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078654" y="108438"/>
            <a:ext cx="3894992" cy="55391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smtClean="0"/>
              <a:t>Use Case </a:t>
            </a:r>
            <a:r>
              <a:rPr lang="en-US" sz="2400" b="1" dirty="0"/>
              <a:t>S</a:t>
            </a:r>
            <a:r>
              <a:rPr lang="en-US" sz="2400" b="1" dirty="0" smtClean="0"/>
              <a:t>pecification Table</a:t>
            </a:r>
            <a:endParaRPr lang="en-US" sz="24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7783" y="1025442"/>
            <a:ext cx="8576733" cy="5198533"/>
          </a:xfrm>
          <a:prstGeom prst="rect">
            <a:avLst/>
          </a:prstGeom>
        </p:spPr>
      </p:pic>
    </p:spTree>
    <p:extLst>
      <p:ext uri="{BB962C8B-B14F-4D97-AF65-F5344CB8AC3E}">
        <p14:creationId xmlns:p14="http://schemas.microsoft.com/office/powerpoint/2010/main" val="1038042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3244361" y="286890"/>
            <a:ext cx="5794130" cy="85285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smtClean="0"/>
              <a:t>Requirements Tractability Matrix</a:t>
            </a:r>
            <a:endParaRPr lang="en-US" sz="3200" b="1" dirty="0"/>
          </a:p>
        </p:txBody>
      </p:sp>
      <p:sp>
        <p:nvSpPr>
          <p:cNvPr id="5" name="Rectangle 1"/>
          <p:cNvSpPr>
            <a:spLocks noChangeArrowheads="1"/>
          </p:cNvSpPr>
          <p:nvPr/>
        </p:nvSpPr>
        <p:spPr bwMode="auto">
          <a:xfrm>
            <a:off x="13927221" y="7832021"/>
            <a:ext cx="21678613" cy="4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882562609"/>
              </p:ext>
            </p:extLst>
          </p:nvPr>
        </p:nvGraphicFramePr>
        <p:xfrm>
          <a:off x="1497460" y="1405043"/>
          <a:ext cx="9287933" cy="5348351"/>
        </p:xfrm>
        <a:graphic>
          <a:graphicData uri="http://schemas.openxmlformats.org/drawingml/2006/table">
            <a:tbl>
              <a:tblPr rtl="1" firstRow="1" firstCol="1" bandRow="1">
                <a:tableStyleId>{5C22544A-7EE6-4342-B048-85BDC9FD1C3A}</a:tableStyleId>
              </a:tblPr>
              <a:tblGrid>
                <a:gridCol w="567767">
                  <a:extLst>
                    <a:ext uri="{9D8B030D-6E8A-4147-A177-3AD203B41FA5}">
                      <a16:colId xmlns:a16="http://schemas.microsoft.com/office/drawing/2014/main" val="482994998"/>
                    </a:ext>
                  </a:extLst>
                </a:gridCol>
                <a:gridCol w="1578110">
                  <a:extLst>
                    <a:ext uri="{9D8B030D-6E8A-4147-A177-3AD203B41FA5}">
                      <a16:colId xmlns:a16="http://schemas.microsoft.com/office/drawing/2014/main" val="1212507185"/>
                    </a:ext>
                  </a:extLst>
                </a:gridCol>
                <a:gridCol w="1341836">
                  <a:extLst>
                    <a:ext uri="{9D8B030D-6E8A-4147-A177-3AD203B41FA5}">
                      <a16:colId xmlns:a16="http://schemas.microsoft.com/office/drawing/2014/main" val="2162287549"/>
                    </a:ext>
                  </a:extLst>
                </a:gridCol>
                <a:gridCol w="717643">
                  <a:extLst>
                    <a:ext uri="{9D8B030D-6E8A-4147-A177-3AD203B41FA5}">
                      <a16:colId xmlns:a16="http://schemas.microsoft.com/office/drawing/2014/main" val="3503037683"/>
                    </a:ext>
                  </a:extLst>
                </a:gridCol>
                <a:gridCol w="1123192">
                  <a:extLst>
                    <a:ext uri="{9D8B030D-6E8A-4147-A177-3AD203B41FA5}">
                      <a16:colId xmlns:a16="http://schemas.microsoft.com/office/drawing/2014/main" val="3565632133"/>
                    </a:ext>
                  </a:extLst>
                </a:gridCol>
                <a:gridCol w="1332139">
                  <a:extLst>
                    <a:ext uri="{9D8B030D-6E8A-4147-A177-3AD203B41FA5}">
                      <a16:colId xmlns:a16="http://schemas.microsoft.com/office/drawing/2014/main" val="1131797110"/>
                    </a:ext>
                  </a:extLst>
                </a:gridCol>
                <a:gridCol w="1284529">
                  <a:extLst>
                    <a:ext uri="{9D8B030D-6E8A-4147-A177-3AD203B41FA5}">
                      <a16:colId xmlns:a16="http://schemas.microsoft.com/office/drawing/2014/main" val="3397305962"/>
                    </a:ext>
                  </a:extLst>
                </a:gridCol>
                <a:gridCol w="1342717">
                  <a:extLst>
                    <a:ext uri="{9D8B030D-6E8A-4147-A177-3AD203B41FA5}">
                      <a16:colId xmlns:a16="http://schemas.microsoft.com/office/drawing/2014/main" val="4212678980"/>
                    </a:ext>
                  </a:extLst>
                </a:gridCol>
              </a:tblGrid>
              <a:tr h="326350">
                <a:tc>
                  <a:txBody>
                    <a:bodyPr/>
                    <a:lstStyle/>
                    <a:p>
                      <a:pPr marL="161925" marR="0" indent="0" algn="r" rtl="1">
                        <a:lnSpc>
                          <a:spcPct val="109000"/>
                        </a:lnSpc>
                        <a:spcBef>
                          <a:spcPts val="0"/>
                        </a:spcBef>
                        <a:spcAft>
                          <a:spcPts val="20"/>
                        </a:spcAft>
                      </a:pPr>
                      <a:r>
                        <a:rPr lang="en-US" sz="1400">
                          <a:effectLst/>
                        </a:rPr>
                        <a:t>ID</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العنوان</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الوصف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قسم </a:t>
                      </a:r>
                      <a:r>
                        <a:rPr lang="en-US" sz="1400">
                          <a:effectLst/>
                        </a:rPr>
                        <a:t>SRS</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Coding</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en-US" sz="1400">
                          <a:effectLst/>
                        </a:rPr>
                        <a:t>Component test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Integration test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Component design</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2620747614"/>
                  </a:ext>
                </a:extLst>
              </a:tr>
              <a:tr h="979051">
                <a:tc>
                  <a:txBody>
                    <a:bodyPr/>
                    <a:lstStyle/>
                    <a:p>
                      <a:pPr marL="161925" marR="0" indent="0" algn="r" rtl="0">
                        <a:lnSpc>
                          <a:spcPct val="109000"/>
                        </a:lnSpc>
                        <a:spcBef>
                          <a:spcPts val="0"/>
                        </a:spcBef>
                        <a:spcAft>
                          <a:spcPts val="20"/>
                        </a:spcAft>
                      </a:pPr>
                      <a:r>
                        <a:rPr lang="en-US" sz="1400">
                          <a:effectLst/>
                        </a:rPr>
                        <a:t>1</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dirty="0">
                          <a:effectLst/>
                        </a:rPr>
                        <a:t>تسجيل الدخول</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تسجيل الدخول إلى النظام باستخدام بياناته</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1</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TC-01</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2863206896"/>
                  </a:ext>
                </a:extLst>
              </a:tr>
              <a:tr h="761484">
                <a:tc>
                  <a:txBody>
                    <a:bodyPr/>
                    <a:lstStyle/>
                    <a:p>
                      <a:pPr marL="161925" marR="0" indent="0" algn="r" rtl="0">
                        <a:lnSpc>
                          <a:spcPct val="109000"/>
                        </a:lnSpc>
                        <a:spcBef>
                          <a:spcPts val="0"/>
                        </a:spcBef>
                        <a:spcAft>
                          <a:spcPts val="20"/>
                        </a:spcAft>
                      </a:pPr>
                      <a:r>
                        <a:rPr lang="en-US" sz="1400">
                          <a:effectLst/>
                        </a:rPr>
                        <a:t>2</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انشاء حساب جديد</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إنشاء حساب جديد في النظام</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2</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TC-02</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1695162269"/>
                  </a:ext>
                </a:extLst>
              </a:tr>
              <a:tr h="761484">
                <a:tc>
                  <a:txBody>
                    <a:bodyPr/>
                    <a:lstStyle/>
                    <a:p>
                      <a:pPr marL="161925" marR="0" indent="0" algn="r" rtl="0">
                        <a:lnSpc>
                          <a:spcPct val="109000"/>
                        </a:lnSpc>
                        <a:spcBef>
                          <a:spcPts val="0"/>
                        </a:spcBef>
                        <a:spcAft>
                          <a:spcPts val="20"/>
                        </a:spcAft>
                      </a:pPr>
                      <a:r>
                        <a:rPr lang="en-US" sz="1400">
                          <a:effectLst/>
                        </a:rPr>
                        <a:t>3</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تسجيل الخروج</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تسجيل الخروج من النظام</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3</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TC-03</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1436800749"/>
                  </a:ext>
                </a:extLst>
              </a:tr>
              <a:tr h="761484">
                <a:tc>
                  <a:txBody>
                    <a:bodyPr/>
                    <a:lstStyle/>
                    <a:p>
                      <a:pPr marL="161925" marR="0" indent="0" algn="r" rtl="0">
                        <a:lnSpc>
                          <a:spcPct val="109000"/>
                        </a:lnSpc>
                        <a:spcBef>
                          <a:spcPts val="0"/>
                        </a:spcBef>
                        <a:spcAft>
                          <a:spcPts val="20"/>
                        </a:spcAft>
                      </a:pPr>
                      <a:r>
                        <a:rPr lang="en-US" sz="1400">
                          <a:effectLst/>
                        </a:rPr>
                        <a:t>4</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تعديل بيانات حساب المستخدم</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تعديل بيانات ملفه الشخصي</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4</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TC-04</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3551105142"/>
                  </a:ext>
                </a:extLst>
              </a:tr>
              <a:tr h="761484">
                <a:tc>
                  <a:txBody>
                    <a:bodyPr/>
                    <a:lstStyle/>
                    <a:p>
                      <a:pPr marL="161925" marR="0" indent="0" algn="r" rtl="0">
                        <a:lnSpc>
                          <a:spcPct val="109000"/>
                        </a:lnSpc>
                        <a:spcBef>
                          <a:spcPts val="0"/>
                        </a:spcBef>
                        <a:spcAft>
                          <a:spcPts val="20"/>
                        </a:spcAft>
                      </a:pPr>
                      <a:r>
                        <a:rPr lang="en-US" sz="1400">
                          <a:effectLst/>
                        </a:rPr>
                        <a:t>5</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حذف حساب المستخدم</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حذف حسابه من النظام</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5</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TC-05</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3517947104"/>
                  </a:ext>
                </a:extLst>
              </a:tr>
            </a:tbl>
          </a:graphicData>
        </a:graphic>
      </p:graphicFrame>
    </p:spTree>
    <p:extLst>
      <p:ext uri="{BB962C8B-B14F-4D97-AF65-F5344CB8AC3E}">
        <p14:creationId xmlns:p14="http://schemas.microsoft.com/office/powerpoint/2010/main" val="12548405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3252828" y="396533"/>
            <a:ext cx="5794130" cy="85285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smtClean="0"/>
              <a:t>Requirements Tractability Matrix</a:t>
            </a:r>
            <a:endParaRPr lang="en-US" sz="3200" b="1" dirty="0"/>
          </a:p>
        </p:txBody>
      </p:sp>
      <p:graphicFrame>
        <p:nvGraphicFramePr>
          <p:cNvPr id="3" name="Table 2"/>
          <p:cNvGraphicFramePr>
            <a:graphicFrameLocks noGrp="1"/>
          </p:cNvGraphicFramePr>
          <p:nvPr>
            <p:extLst>
              <p:ext uri="{D42A27DB-BD31-4B8C-83A1-F6EECF244321}">
                <p14:modId xmlns:p14="http://schemas.microsoft.com/office/powerpoint/2010/main" val="3335090107"/>
              </p:ext>
            </p:extLst>
          </p:nvPr>
        </p:nvGraphicFramePr>
        <p:xfrm>
          <a:off x="837629" y="1532467"/>
          <a:ext cx="10624527" cy="5147733"/>
        </p:xfrm>
        <a:graphic>
          <a:graphicData uri="http://schemas.openxmlformats.org/drawingml/2006/table">
            <a:tbl>
              <a:tblPr rtl="1" firstRow="1" firstCol="1" bandRow="1">
                <a:tableStyleId>{5C22544A-7EE6-4342-B048-85BDC9FD1C3A}</a:tableStyleId>
              </a:tblPr>
              <a:tblGrid>
                <a:gridCol w="649474">
                  <a:extLst>
                    <a:ext uri="{9D8B030D-6E8A-4147-A177-3AD203B41FA5}">
                      <a16:colId xmlns:a16="http://schemas.microsoft.com/office/drawing/2014/main" val="3582027311"/>
                    </a:ext>
                  </a:extLst>
                </a:gridCol>
                <a:gridCol w="1805212">
                  <a:extLst>
                    <a:ext uri="{9D8B030D-6E8A-4147-A177-3AD203B41FA5}">
                      <a16:colId xmlns:a16="http://schemas.microsoft.com/office/drawing/2014/main" val="3009162299"/>
                    </a:ext>
                  </a:extLst>
                </a:gridCol>
                <a:gridCol w="1534934">
                  <a:extLst>
                    <a:ext uri="{9D8B030D-6E8A-4147-A177-3AD203B41FA5}">
                      <a16:colId xmlns:a16="http://schemas.microsoft.com/office/drawing/2014/main" val="2959056521"/>
                    </a:ext>
                  </a:extLst>
                </a:gridCol>
                <a:gridCol w="820917">
                  <a:extLst>
                    <a:ext uri="{9D8B030D-6E8A-4147-A177-3AD203B41FA5}">
                      <a16:colId xmlns:a16="http://schemas.microsoft.com/office/drawing/2014/main" val="3903121365"/>
                    </a:ext>
                  </a:extLst>
                </a:gridCol>
                <a:gridCol w="1284827">
                  <a:extLst>
                    <a:ext uri="{9D8B030D-6E8A-4147-A177-3AD203B41FA5}">
                      <a16:colId xmlns:a16="http://schemas.microsoft.com/office/drawing/2014/main" val="3335270295"/>
                    </a:ext>
                  </a:extLst>
                </a:gridCol>
                <a:gridCol w="1523840">
                  <a:extLst>
                    <a:ext uri="{9D8B030D-6E8A-4147-A177-3AD203B41FA5}">
                      <a16:colId xmlns:a16="http://schemas.microsoft.com/office/drawing/2014/main" val="1930492266"/>
                    </a:ext>
                  </a:extLst>
                </a:gridCol>
                <a:gridCol w="1469381">
                  <a:extLst>
                    <a:ext uri="{9D8B030D-6E8A-4147-A177-3AD203B41FA5}">
                      <a16:colId xmlns:a16="http://schemas.microsoft.com/office/drawing/2014/main" val="1499577622"/>
                    </a:ext>
                  </a:extLst>
                </a:gridCol>
                <a:gridCol w="1535942">
                  <a:extLst>
                    <a:ext uri="{9D8B030D-6E8A-4147-A177-3AD203B41FA5}">
                      <a16:colId xmlns:a16="http://schemas.microsoft.com/office/drawing/2014/main" val="2832720136"/>
                    </a:ext>
                  </a:extLst>
                </a:gridCol>
              </a:tblGrid>
              <a:tr h="998343">
                <a:tc>
                  <a:txBody>
                    <a:bodyPr/>
                    <a:lstStyle/>
                    <a:p>
                      <a:pPr marL="161925" marR="0" indent="0" algn="r" rtl="1">
                        <a:lnSpc>
                          <a:spcPct val="109000"/>
                        </a:lnSpc>
                        <a:spcBef>
                          <a:spcPts val="0"/>
                        </a:spcBef>
                        <a:spcAft>
                          <a:spcPts val="20"/>
                        </a:spcAft>
                      </a:pPr>
                      <a:r>
                        <a:rPr lang="en-US" sz="1400">
                          <a:effectLst/>
                        </a:rPr>
                        <a:t>6</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عرض بيانات حساب المستخدم</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عرض بيانات ملفه الشخصي</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6</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TC-06</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2477802234"/>
                  </a:ext>
                </a:extLst>
              </a:tr>
              <a:tr h="976327">
                <a:tc>
                  <a:txBody>
                    <a:bodyPr/>
                    <a:lstStyle/>
                    <a:p>
                      <a:pPr marL="161925" marR="0" indent="0" algn="r" rtl="0">
                        <a:lnSpc>
                          <a:spcPct val="109000"/>
                        </a:lnSpc>
                        <a:spcBef>
                          <a:spcPts val="0"/>
                        </a:spcBef>
                        <a:spcAft>
                          <a:spcPts val="20"/>
                        </a:spcAft>
                      </a:pPr>
                      <a:r>
                        <a:rPr lang="en-US" sz="1400">
                          <a:effectLst/>
                        </a:rPr>
                        <a:t>7</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انشاء ملف حيوان اليف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إنشاء ملف جديد لحيوانه الأليف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7</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dirty="0">
                          <a:effectLst/>
                        </a:rPr>
                        <a:t>TC-07</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2422400254"/>
                  </a:ext>
                </a:extLst>
              </a:tr>
              <a:tr h="976327">
                <a:tc>
                  <a:txBody>
                    <a:bodyPr/>
                    <a:lstStyle/>
                    <a:p>
                      <a:pPr marL="161925" marR="0" indent="0" algn="r" rtl="0">
                        <a:lnSpc>
                          <a:spcPct val="109000"/>
                        </a:lnSpc>
                        <a:spcBef>
                          <a:spcPts val="0"/>
                        </a:spcBef>
                        <a:spcAft>
                          <a:spcPts val="20"/>
                        </a:spcAft>
                      </a:pPr>
                      <a:r>
                        <a:rPr lang="en-US" sz="1400">
                          <a:effectLst/>
                        </a:rPr>
                        <a:t>8</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تعديل ملف حيوان اليف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تعديل بيانات ملف  الحيوان الأليف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8</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dirty="0">
                          <a:effectLst/>
                        </a:rPr>
                        <a:t>TC-08</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3395225274"/>
                  </a:ext>
                </a:extLst>
              </a:tr>
              <a:tr h="976327">
                <a:tc>
                  <a:txBody>
                    <a:bodyPr/>
                    <a:lstStyle/>
                    <a:p>
                      <a:pPr marL="161925" marR="0" indent="0" algn="r" rtl="0">
                        <a:lnSpc>
                          <a:spcPct val="109000"/>
                        </a:lnSpc>
                        <a:spcBef>
                          <a:spcPts val="0"/>
                        </a:spcBef>
                        <a:spcAft>
                          <a:spcPts val="20"/>
                        </a:spcAft>
                      </a:pPr>
                      <a:r>
                        <a:rPr lang="en-US" sz="1400">
                          <a:effectLst/>
                        </a:rPr>
                        <a:t>9</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حذف ملف حيوان اليف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حذف ملف الحيوان الأليف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9</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a:effectLst/>
                        </a:rPr>
                        <a:t>TC-09</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1222900689"/>
                  </a:ext>
                </a:extLst>
              </a:tr>
              <a:tr h="1220409">
                <a:tc>
                  <a:txBody>
                    <a:bodyPr/>
                    <a:lstStyle/>
                    <a:p>
                      <a:pPr marL="161925" marR="0" indent="0" algn="r" rtl="0">
                        <a:lnSpc>
                          <a:spcPct val="109000"/>
                        </a:lnSpc>
                        <a:spcBef>
                          <a:spcPts val="0"/>
                        </a:spcBef>
                        <a:spcAft>
                          <a:spcPts val="20"/>
                        </a:spcAft>
                      </a:pPr>
                      <a:r>
                        <a:rPr lang="en-US" sz="1400">
                          <a:effectLst/>
                        </a:rPr>
                        <a:t>10</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عرض ملف حيوان اليف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a:effectLst/>
                        </a:rPr>
                        <a:t>يجب أن يكون المستخدم قادرًا على عرض تفاصيل ملف تعريف الحيوان الأليف</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1">
                        <a:lnSpc>
                          <a:spcPct val="109000"/>
                        </a:lnSpc>
                        <a:spcBef>
                          <a:spcPts val="0"/>
                        </a:spcBef>
                        <a:spcAft>
                          <a:spcPts val="20"/>
                        </a:spcAft>
                      </a:pPr>
                      <a:r>
                        <a:rPr lang="ar-SY" sz="1400" dirty="0">
                          <a:effectLst/>
                        </a:rPr>
                        <a:t>10</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ar-SY" sz="1400">
                          <a:effectLst/>
                        </a:rPr>
                        <a:t>تم التنفيذ</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r" rtl="1">
                        <a:lnSpc>
                          <a:spcPct val="109000"/>
                        </a:lnSpc>
                        <a:spcBef>
                          <a:spcPts val="0"/>
                        </a:spcBef>
                        <a:spcAft>
                          <a:spcPts val="20"/>
                        </a:spcAft>
                      </a:pPr>
                      <a:r>
                        <a:rPr lang="en-US" sz="1400" dirty="0">
                          <a:effectLst/>
                        </a:rPr>
                        <a:t>TC-10</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a:effectLst/>
                        </a:rPr>
                        <a:t>-</a:t>
                      </a:r>
                      <a:endPar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tc>
                  <a:txBody>
                    <a:bodyPr/>
                    <a:lstStyle/>
                    <a:p>
                      <a:pPr marL="161925" marR="0" indent="0" algn="ctr" rtl="0">
                        <a:lnSpc>
                          <a:spcPct val="109000"/>
                        </a:lnSpc>
                        <a:spcBef>
                          <a:spcPts val="0"/>
                        </a:spcBef>
                        <a:spcAft>
                          <a:spcPts val="20"/>
                        </a:spcAft>
                      </a:pPr>
                      <a:r>
                        <a:rPr lang="en-US" sz="1400" dirty="0">
                          <a:effectLst/>
                        </a:rPr>
                        <a:t>-</a:t>
                      </a:r>
                      <a:endPar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32083" marR="32083" marT="0" marB="0"/>
                </a:tc>
                <a:extLst>
                  <a:ext uri="{0D108BD9-81ED-4DB2-BD59-A6C34878D82A}">
                    <a16:rowId xmlns:a16="http://schemas.microsoft.com/office/drawing/2014/main" val="402363265"/>
                  </a:ext>
                </a:extLst>
              </a:tr>
            </a:tbl>
          </a:graphicData>
        </a:graphic>
      </p:graphicFrame>
    </p:spTree>
    <p:extLst>
      <p:ext uri="{BB962C8B-B14F-4D97-AF65-F5344CB8AC3E}">
        <p14:creationId xmlns:p14="http://schemas.microsoft.com/office/powerpoint/2010/main" val="5978137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721722" y="114299"/>
            <a:ext cx="4994031"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3600" b="1" dirty="0" smtClean="0"/>
              <a:t>Component Diagram</a:t>
            </a:r>
            <a:endParaRPr lang="en-US" sz="36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6032" y="822798"/>
            <a:ext cx="8945413" cy="5792696"/>
          </a:xfrm>
          <a:prstGeom prst="rect">
            <a:avLst/>
          </a:prstGeom>
        </p:spPr>
      </p:pic>
      <p:sp>
        <p:nvSpPr>
          <p:cNvPr id="4" name="Rectangle 3"/>
          <p:cNvSpPr/>
          <p:nvPr/>
        </p:nvSpPr>
        <p:spPr>
          <a:xfrm>
            <a:off x="1746032" y="835270"/>
            <a:ext cx="3195245" cy="28047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rot="5400000">
            <a:off x="4690724" y="1085823"/>
            <a:ext cx="870438" cy="369332"/>
          </a:xfrm>
          <a:prstGeom prst="rect">
            <a:avLst/>
          </a:prstGeom>
          <a:noFill/>
        </p:spPr>
        <p:txBody>
          <a:bodyPr wrap="square" rtlCol="0">
            <a:spAutoFit/>
          </a:bodyPr>
          <a:lstStyle/>
          <a:p>
            <a:r>
              <a:rPr lang="en-US" dirty="0" smtClean="0"/>
              <a:t>Client</a:t>
            </a:r>
            <a:endParaRPr lang="en-US" dirty="0"/>
          </a:p>
        </p:txBody>
      </p:sp>
      <p:sp>
        <p:nvSpPr>
          <p:cNvPr id="7" name="Rectangle 6"/>
          <p:cNvSpPr/>
          <p:nvPr/>
        </p:nvSpPr>
        <p:spPr>
          <a:xfrm>
            <a:off x="1746032" y="3719146"/>
            <a:ext cx="8936622" cy="29278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653952" y="3455349"/>
            <a:ext cx="1037493" cy="369332"/>
          </a:xfrm>
          <a:prstGeom prst="rect">
            <a:avLst/>
          </a:prstGeom>
          <a:noFill/>
        </p:spPr>
        <p:txBody>
          <a:bodyPr wrap="square" rtlCol="0">
            <a:spAutoFit/>
          </a:bodyPr>
          <a:lstStyle/>
          <a:p>
            <a:pPr algn="ctr"/>
            <a:r>
              <a:rPr lang="en-US" dirty="0" smtClean="0"/>
              <a:t>Server</a:t>
            </a:r>
            <a:endParaRPr lang="en-US" dirty="0"/>
          </a:p>
        </p:txBody>
      </p:sp>
      <p:sp>
        <p:nvSpPr>
          <p:cNvPr id="9" name="TextBox 8"/>
          <p:cNvSpPr txBox="1"/>
          <p:nvPr/>
        </p:nvSpPr>
        <p:spPr>
          <a:xfrm>
            <a:off x="7881544" y="1085823"/>
            <a:ext cx="2848708" cy="369332"/>
          </a:xfrm>
          <a:prstGeom prst="rect">
            <a:avLst/>
          </a:prstGeom>
          <a:noFill/>
        </p:spPr>
        <p:txBody>
          <a:bodyPr wrap="square" rtlCol="0">
            <a:spAutoFit/>
          </a:bodyPr>
          <a:lstStyle/>
          <a:p>
            <a:r>
              <a:rPr lang="en-US" dirty="0" smtClean="0"/>
              <a:t>*Using Client-Server Model*</a:t>
            </a:r>
            <a:endParaRPr lang="en-US" dirty="0"/>
          </a:p>
        </p:txBody>
      </p:sp>
    </p:spTree>
    <p:extLst>
      <p:ext uri="{BB962C8B-B14F-4D97-AF65-F5344CB8AC3E}">
        <p14:creationId xmlns:p14="http://schemas.microsoft.com/office/powerpoint/2010/main" val="29990514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6530</TotalTime>
  <Words>1218</Words>
  <Application>Microsoft Office PowerPoint</Application>
  <PresentationFormat>Widescreen</PresentationFormat>
  <Paragraphs>370</Paragraphs>
  <Slides>27</Slides>
  <Notes>0</Notes>
  <HiddenSlides>11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Times New Roman</vt:lpstr>
      <vt:lpstr>Office Theme</vt:lpstr>
      <vt:lpstr> تطبيق الرعاية بالحيوانات الأليفة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تطبيق الرعاية بالحيوانات الاليفة</dc:title>
  <dc:creator>m</dc:creator>
  <cp:lastModifiedBy>m</cp:lastModifiedBy>
  <cp:revision>166</cp:revision>
  <dcterms:created xsi:type="dcterms:W3CDTF">2025-10-24T09:51:27Z</dcterms:created>
  <dcterms:modified xsi:type="dcterms:W3CDTF">2026-04-27T23:04:07Z</dcterms:modified>
</cp:coreProperties>
</file>